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18"/>
  </p:notesMasterIdLst>
  <p:sldIdLst>
    <p:sldId id="397" r:id="rId10"/>
    <p:sldId id="481" r:id="rId23"/>
    <p:sldId id="482" r:id="rId24"/>
    <p:sldId id="483" r:id="rId25"/>
    <p:sldId id="476" r:id="rId11"/>
    <p:sldId id="479" r:id="rId12"/>
    <p:sldId id="477" r:id="rId13"/>
    <p:sldId id="475" r:id="rId14"/>
    <p:sldId id="478" r:id="rId15"/>
    <p:sldId id="480" r:id="rId16"/>
    <p:sldId id="421" r:id="rId1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387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12.10.2026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800" dirty="0"/>
              <a:t>Gemeinsamer Auftritt und klare Zuweisungswege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fünf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874519" y="1737360"/>
            <a:ext cx="502921" cy="8321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874519" y="2194560"/>
            <a:ext cx="502921" cy="3749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74519" y="2569464"/>
            <a:ext cx="502921" cy="822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2569464"/>
            <a:ext cx="502921" cy="5394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4519" y="2569464"/>
            <a:ext cx="502921" cy="9966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92040" y="1645920"/>
            <a:ext cx="1097280" cy="9144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92040" y="1737360"/>
            <a:ext cx="1097280" cy="120700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92040" y="1783080"/>
            <a:ext cx="1097280" cy="41148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" y="2194560"/>
            <a:ext cx="1097280" cy="88696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92040" y="1920240"/>
            <a:ext cx="1097280" cy="73152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92040" y="2651760"/>
            <a:ext cx="1097280" cy="5669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92040" y="2057400"/>
            <a:ext cx="1097280" cy="105156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92040" y="3108960"/>
            <a:ext cx="1097280" cy="24688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92040" y="2176272"/>
            <a:ext cx="1097280" cy="138988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92040" y="3493008"/>
            <a:ext cx="1097280" cy="7315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377440" y="15727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  <a:r>
              <a:rPr sz="750" b="0">
                <a:solidFill>
                  <a:srgbClr val="006B4F"/>
                </a:solidFill>
              </a:rPr>
              <a:t>   von beiden genutzt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029967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udem@insel.ch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7440" y="24871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bauchzentrum@insel.ch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9443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Telefon Viszerale Chirurgie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34015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Online-Formular adipositasbern.ch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2245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77078"/>
                </a:solidFill>
              </a:rPr>
              <a:t>Platzhalter – Zahlen zu definieren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neu: wenige Eingänge,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737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udem@insel.ch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688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bauchzentrum@insel.ch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Telefon Viszerale Chirurgie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Online-Formular adipositasbern.ch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18470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43230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039112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12080" y="2624328"/>
            <a:ext cx="457200" cy="0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212080" y="2624328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Weniger Eingänge, klare Kriterien, keine Umwege zwischen den Zentren.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4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Zentrum, alle Therapien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Interdisziplinär aus einer Hand – UDEM und UVCM gemeinsam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83080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029968"/>
            <a:ext cx="159105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71C1B"/>
                </a:solidFill>
              </a:rPr>
              <a:t>Ernährung</a:t>
            </a:r>
            <a:r>
              <a:rPr sz="1400" b="1" i="0" dirty="0">
                <a:solidFill>
                  <a:srgbClr val="171C1B"/>
                </a:solidFill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1609344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Ernährungsmedizin &amp; </a:t>
            </a:r>
            <a:r>
              <a:rPr sz="1100" b="0" i="0" dirty="0" err="1">
                <a:solidFill>
                  <a:srgbClr val="171C1B"/>
                </a:solidFill>
              </a:rPr>
              <a:t>Ernährungsberatung</a:t>
            </a:r>
            <a:r>
              <a:rPr lang="de-CH" sz="1100" b="0" i="0" dirty="0">
                <a:solidFill>
                  <a:srgbClr val="171C1B"/>
                </a:solidFill>
              </a:rPr>
              <a:t> </a:t>
            </a:r>
            <a:endParaRPr sz="1100" b="0" i="0" dirty="0">
              <a:solidFill>
                <a:srgbClr val="171C1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78608" y="1656848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15768" y="1794008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2040896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Medikamentöse Therapie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5768" y="2589536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Abklärung, Behandlung und Verlauf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40865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778025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2024913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573553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Operative und endoskopische Verfahren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74720"/>
            <a:ext cx="8046720" cy="11887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576" cy="1188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ea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2377440" cy="486295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>
            <a:off x="3520440" y="3657600"/>
            <a:ext cx="0" cy="82296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123945" y="3695623"/>
            <a:ext cx="4315967" cy="436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 sz="1250" b="1" i="0" dirty="0">
              <a:solidFill>
                <a:srgbClr val="171C1B"/>
              </a:solidFill>
            </a:endParaRPr>
          </a:p>
          <a:p>
            <a:pPr algn="l">
              <a:spcBef>
                <a:spcPts val="400"/>
              </a:spcBef>
            </a:pPr>
            <a:r>
              <a:rPr lang="de-CH" sz="1250" b="1" i="0" dirty="0">
                <a:solidFill>
                  <a:srgbClr val="171C1B"/>
                </a:solidFill>
              </a:rPr>
              <a:t>Zentrum ist a</a:t>
            </a:r>
            <a:r>
              <a:rPr sz="1250" b="1" i="0" dirty="0" err="1">
                <a:solidFill>
                  <a:srgbClr val="171C1B"/>
                </a:solidFill>
              </a:rPr>
              <a:t>nerkannt</a:t>
            </a:r>
            <a:r>
              <a:rPr sz="1250" b="1" i="0" dirty="0">
                <a:solidFill>
                  <a:srgbClr val="171C1B"/>
                </a:solidFill>
              </a:rPr>
              <a:t> </a:t>
            </a:r>
            <a:r>
              <a:rPr sz="1250" b="1" i="0" dirty="0" err="1">
                <a:solidFill>
                  <a:srgbClr val="171C1B"/>
                </a:solidFill>
              </a:rPr>
              <a:t>als</a:t>
            </a:r>
            <a:r>
              <a:rPr sz="1250" b="1" i="0" dirty="0">
                <a:solidFill>
                  <a:srgbClr val="171C1B"/>
                </a:solidFill>
              </a:rPr>
              <a:t> Swiss Medical Obesity Center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C75EF914-26A9-50D6-A598-6FE84184A0CA}"/>
              </a:ext>
            </a:extLst>
          </p:cNvPr>
          <p:cNvSpPr/>
          <p:nvPr/>
        </p:nvSpPr>
        <p:spPr>
          <a:xfrm>
            <a:off x="6574536" y="1630277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9623F609-CC7F-7C85-13A5-E9D470945EE4}"/>
              </a:ext>
            </a:extLst>
          </p:cNvPr>
          <p:cNvSpPr txBox="1"/>
          <p:nvPr/>
        </p:nvSpPr>
        <p:spPr>
          <a:xfrm>
            <a:off x="6711696" y="1767437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6" name="TextBox 30">
            <a:extLst>
              <a:ext uri="{FF2B5EF4-FFF2-40B4-BE49-F238E27FC236}">
                <a16:creationId xmlns:a16="http://schemas.microsoft.com/office/drawing/2014/main" id="{7DDF5FFA-6DA8-8847-2BF7-8BF7008BCF33}"/>
              </a:ext>
            </a:extLst>
          </p:cNvPr>
          <p:cNvSpPr txBox="1"/>
          <p:nvPr/>
        </p:nvSpPr>
        <p:spPr>
          <a:xfrm>
            <a:off x="6711696" y="2014325"/>
            <a:ext cx="15910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400" b="1" i="0" dirty="0">
                <a:solidFill>
                  <a:srgbClr val="171C1B"/>
                </a:solidFill>
              </a:rPr>
              <a:t>Postbariatrische Chirurgie</a:t>
            </a:r>
            <a:endParaRPr sz="1400" b="1" i="0" dirty="0">
              <a:solidFill>
                <a:srgbClr val="171C1B"/>
              </a:solidFill>
            </a:endParaRPr>
          </a:p>
        </p:txBody>
      </p:sp>
      <p:sp>
        <p:nvSpPr>
          <p:cNvPr id="7" name="TextBox 31">
            <a:extLst>
              <a:ext uri="{FF2B5EF4-FFF2-40B4-BE49-F238E27FC236}">
                <a16:creationId xmlns:a16="http://schemas.microsoft.com/office/drawing/2014/main" id="{59B006AD-0144-8908-4E2B-60A6E5770CDE}"/>
              </a:ext>
            </a:extLst>
          </p:cNvPr>
          <p:cNvSpPr txBox="1"/>
          <p:nvPr/>
        </p:nvSpPr>
        <p:spPr>
          <a:xfrm>
            <a:off x="6711696" y="2562965"/>
            <a:ext cx="160934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Nachsorge</a:t>
            </a:r>
            <a:endParaRPr sz="1100" b="0" i="0" dirty="0">
              <a:solidFill>
                <a:srgbClr val="171C1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Website nach Insel-Standard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Beispiel: Inhalte und Videos der Bariatrie integriert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4846320" cy="3106491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grpSp>
        <p:nvGrpSpPr>
          <p:cNvPr id="4" name="Group 3"/>
          <p:cNvGrpSpPr/>
          <p:nvPr/>
        </p:nvGrpSpPr>
        <p:grpSpPr>
          <a:xfrm>
            <a:off x="3136574" y="3015416"/>
            <a:ext cx="1967605" cy="726948"/>
            <a:chOff x="3136574" y="3015416"/>
            <a:chExt cx="1967605" cy="726948"/>
          </a:xfrm>
        </p:grpSpPr>
        <p:pic>
          <p:nvPicPr>
            <p:cNvPr id="22" name="Picture 21" descr="vid1.jpg"/>
            <p:cNvPicPr>
              <a:picLocks noChangeAspect="1"/>
            </p:cNvPicPr>
            <p:nvPr/>
          </p:nvPicPr>
          <p:blipFill>
            <a:blip r:embed="rId3"/>
            <a:srcRect t="17159" b="17159"/>
            <a:stretch>
              <a:fillRect/>
            </a:stretch>
          </p:blipFill>
          <p:spPr>
            <a:xfrm>
              <a:off x="3136574" y="3015416"/>
              <a:ext cx="1967605" cy="726948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3136574" y="3559484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lang="de-CH" sz="700" b="1" dirty="0">
                  <a:solidFill>
                    <a:srgbClr val="FFFFFF"/>
                  </a:solidFill>
                </a:rPr>
                <a:t>Unsere Sprechstunde für Übergewicht</a:t>
              </a:r>
            </a:p>
          </p:txBody>
        </p:sp>
        <p:sp>
          <p:nvSpPr>
            <p:cNvPr id="24" name="Isosceles Triangle 23"/>
            <p:cNvSpPr/>
            <p:nvPr/>
          </p:nvSpPr>
          <p:spPr>
            <a:xfrm rot="5400000">
              <a:off x="4028937" y="3177722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136574" y="3810213"/>
            <a:ext cx="1967605" cy="726948"/>
            <a:chOff x="3136574" y="3810213"/>
            <a:chExt cx="1967605" cy="726948"/>
          </a:xfrm>
        </p:grpSpPr>
        <p:pic>
          <p:nvPicPr>
            <p:cNvPr id="25" name="Picture 24" descr="vid2.jpg"/>
            <p:cNvPicPr>
              <a:picLocks noChangeAspect="1"/>
            </p:cNvPicPr>
            <p:nvPr/>
          </p:nvPicPr>
          <p:blipFill>
            <a:blip r:embed="rId4"/>
            <a:srcRect t="17159" b="17159"/>
            <a:stretch>
              <a:fillRect/>
            </a:stretch>
          </p:blipFill>
          <p:spPr>
            <a:xfrm>
              <a:off x="3136574" y="3810213"/>
              <a:ext cx="1967605" cy="726948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3136574" y="4354281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sz="700" b="1" dirty="0" err="1">
                  <a:solidFill>
                    <a:srgbClr val="FFFFFF"/>
                  </a:solidFill>
                </a:rPr>
                <a:t>Übergewichtschirurgie</a:t>
              </a:r>
              <a:r>
                <a:rPr sz="700" b="1" dirty="0">
                  <a:solidFill>
                    <a:srgbClr val="FFFFFF"/>
                  </a:solidFill>
                </a:rPr>
                <a:t> – was Sie </a:t>
              </a:r>
              <a:r>
                <a:rPr sz="700" b="1" dirty="0" err="1">
                  <a:solidFill>
                    <a:srgbClr val="FFFFFF"/>
                  </a:solidFill>
                </a:rPr>
                <a:t>schon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immer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wissen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wollten</a:t>
              </a:r>
              <a:endParaRPr sz="7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4028937" y="3972519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</p:grpSp>
      <p:pic>
        <p:nvPicPr>
          <p:cNvPr id="28" name="Picture 27" descr="a_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517904"/>
            <a:ext cx="1371600" cy="857250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7132320" y="15544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9A4A38"/>
                </a:solidFill>
              </a:rPr>
              <a:t>adipositasbern.ch</a:t>
            </a:r>
          </a:p>
          <a:p>
            <a:pPr algn="ctr"/>
            <a:r>
              <a:rPr sz="750" b="0">
                <a:solidFill>
                  <a:srgbClr val="9A4A38"/>
                </a:solidFill>
              </a:rPr>
              <a:t>extern gehostet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195681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→ Insel-Standard</a:t>
            </a:r>
          </a:p>
          <a:p>
            <a:pPr algn="ctr"/>
            <a:r>
              <a:rPr sz="750" b="0">
                <a:solidFill>
                  <a:srgbClr val="006B4F"/>
                </a:solidFill>
              </a:rPr>
              <a:t>gehostet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56032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EINSTIEGSPUNKT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752344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Alle Therapien unter einem Dach.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18687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INHALTE INTEGRIERT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10711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Chirurgie-Seiten und Videos der Bariatrie.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877056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AUFTRITT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06908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Einheitlich, gepflegt, besser auffindbar.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7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32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Grundsatz klären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und Projektteam UDEM / UVCM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61488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Zuweisung definieren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Kriterien, Stellen und Triage-Prozess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8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2584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176272"/>
            <a:ext cx="1609344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171C1B"/>
                </a:solidFill>
              </a:rPr>
              <a:t>Website </a:t>
            </a:r>
            <a:r>
              <a:rPr lang="de-CH" sz="1350" b="1" i="0" dirty="0">
                <a:solidFill>
                  <a:srgbClr val="171C1B"/>
                </a:solidFill>
              </a:rPr>
              <a:t>definieren</a:t>
            </a:r>
            <a:endParaRPr sz="1350" b="1" i="0" dirty="0">
              <a:solidFill>
                <a:srgbClr val="171C1B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809744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Struktur, Inhalte, Umzug nach Insel-Standard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069080"/>
            <a:ext cx="36576" cy="45720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0690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Zeitplan, Zuständigkeiten und Kriterien sind Platzhalter und werden gemeinsam festgelegt.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 am UDEM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Strukturierter Behandlungspfad – rund 780 Kontakte pro Monat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25603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029968" y="192024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231136" y="19019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1627632"/>
            <a:ext cx="2560320" cy="457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BIA &amp; Fibroscan, vor jeder ärztl. Konsultation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40" y="1627632"/>
            <a:ext cx="2560320" cy="45720"/>
          </a:xfrm>
          <a:prstGeom prst="rect">
            <a:avLst/>
          </a:prstGeom>
          <a:solidFill>
            <a:srgbClr val="677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180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1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1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durch dipl. Pflegefachpersonen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880360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88136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53335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29891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818534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Meilenstein-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kontrolle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695090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183733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60289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548932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5488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8136" y="3931920"/>
            <a:ext cx="2584094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88136" y="3986783"/>
            <a:ext cx="25840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58380" y="3831335"/>
            <a:ext cx="0" cy="210313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4427982" y="4041648"/>
            <a:ext cx="2730398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27982" y="3840479"/>
            <a:ext cx="0" cy="201169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53662" y="4096511"/>
            <a:ext cx="32790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 bis Behandlungsschluss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Adipositas-Sprechstunden im Vergleich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UDEM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13969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06823" y="1993392"/>
            <a:ext cx="356615" cy="384048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20482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 + 50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4754879" y="242316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956047" y="240487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2608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724912"/>
            <a:ext cx="927201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7481" y="2779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893161" y="2551176"/>
            <a:ext cx="0" cy="164592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893161" y="2551176"/>
            <a:ext cx="1591970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485131" y="2395728"/>
            <a:ext cx="0" cy="15544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48840" y="1920240"/>
            <a:ext cx="0" cy="1261872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148840" y="3200400"/>
            <a:ext cx="237744" cy="137160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78024" y="319125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71C1B"/>
                </a:solidFill>
              </a:rPr>
              <a:t>≈ 50 postbariatrische Termine am UDEM</a:t>
            </a:r>
            <a:r>
              <a:rPr sz="800" b="0" i="0">
                <a:solidFill>
                  <a:srgbClr val="677078"/>
                </a:solidFill>
              </a:rPr>
              <a:t> · nach OP Viszeralchirurgie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645920"/>
            <a:ext cx="2606040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645920"/>
            <a:ext cx="36576" cy="21031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1773936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ZUSÄTZLICH AM UDEM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20299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03911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21284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4323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244144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61518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dipl. Pflege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28346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280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284378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Ernährungsberatungen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03720" y="30175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aus UDEM &amp; Viszeralchirurgie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172200" y="3282696"/>
            <a:ext cx="224028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72200" y="334670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≈ 1'110</a:t>
            </a:r>
            <a:r>
              <a:rPr sz="1000" b="0" i="0">
                <a:solidFill>
                  <a:srgbClr val="171C1B"/>
                </a:solidFill>
              </a:rPr>
              <a:t> Kontakte pro Monat gesamt</a:t>
            </a:r>
          </a:p>
          <a:p>
            <a:pPr algn="l"/>
            <a:r>
              <a:rPr sz="850" b="0" i="0">
                <a:solidFill>
                  <a:srgbClr val="677078"/>
                </a:solidFill>
              </a:rPr>
              <a:t>inkl. ≈ 50 postbariatrische Termine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858768"/>
            <a:ext cx="8046720" cy="402336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3858768"/>
            <a:ext cx="36576" cy="402336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858768"/>
            <a:ext cx="77724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Zusammen rund 480 ärztliche Adipositas-Termine pro Monat – ein abgestimmter Pfad nützt beiden Kliniken.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334256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Viszerale Chirurgie: ärztliche Termine mit Besuchsgrund «Adipositas», Monatsdurchschnitt 1.4.–1.10.2026. UDEM: gerundete Monatswerte; ärztlich = Erstkonsultationen und Jahreskontrollen, zusätzlich postbariatrische Termine. Ernährungsberatung zählt zum UDEM.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Qualität &amp; Forschung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Qualität und Forschung am ZSG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Zentrum für Stoffwechsel und Gewichtsregulation, UDEM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QUALITÄT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874519"/>
            <a:ext cx="3840480" cy="9326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680"/>
            <a:ext cx="1691640" cy="346017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578608" y="2011680"/>
            <a:ext cx="0" cy="65836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15768" y="2011680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EASO COMs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Zertifiziert durch die European Association for the Study of Obesity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38404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00837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Medical Obesity Center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Anerkennung als medizinisches Adipositaszentrum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FORSCHUNG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1874519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1984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4072" y="196596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900" b="1">
                <a:solidFill>
                  <a:srgbClr val="FFFFFF"/>
                </a:solidFill>
              </a:rPr>
              <a:t>Lead: UDEM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9472" y="2359151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Ziel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59752" y="2331720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9472" y="2606039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Design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59752" y="2578608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9472" y="2852927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Beteiligte Zentren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59752" y="2825496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3099815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Eingeschlossene Patient:innen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9752" y="3072384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3346703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Start / Laufzeit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59752" y="3319272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794760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7947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Zertifizierte Qualität und eigene Forschung als Basis für das gemeinsame Zentrum.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481</Words>
  <Application>Microsoft Office PowerPoint</Application>
  <PresentationFormat>Bildschirmpräsentation (16:9)</PresentationFormat>
  <Paragraphs>139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8</vt:i4>
      </vt:variant>
    </vt:vector>
  </HeadingPairs>
  <TitlesOfParts>
    <vt:vector size="16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91</cp:revision>
  <dcterms:created xsi:type="dcterms:W3CDTF">2025-07-28T07:27:53Z</dcterms:created>
  <dcterms:modified xsi:type="dcterms:W3CDTF">2026-10-12T11:42:44Z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