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83" r:id="rId25"/>
    <p:sldId id="476" r:id="rId11"/>
    <p:sldId id="479" r:id="rId12"/>
    <p:sldId id="477" r:id="rId13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71C1B"/>
                </a:solidFill>
              </a:rPr>
              <a:t>Ernährung</a:t>
            </a:r>
            <a:r>
              <a:rPr sz="1400" b="1" i="0" dirty="0">
                <a:solidFill>
                  <a:srgbClr val="171C1B"/>
                </a:solidFill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Ernährungsmedizin &amp; </a:t>
            </a:r>
            <a:r>
              <a:rPr sz="1100" b="0" i="0" dirty="0" err="1">
                <a:solidFill>
                  <a:srgbClr val="171C1B"/>
                </a:solidFill>
              </a:rPr>
              <a:t>Ernährungsberatung</a:t>
            </a:r>
            <a:r>
              <a:rPr lang="de-CH" sz="1100" b="0" i="0" dirty="0">
                <a:solidFill>
                  <a:srgbClr val="171C1B"/>
                </a:solidFill>
              </a:rPr>
              <a:t> </a:t>
            </a:r>
            <a:endParaRPr sz="1100" b="0" i="0" dirty="0">
              <a:solidFill>
                <a:srgbClr val="171C1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78608" y="1656848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15768" y="1794008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2040896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589536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40865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778025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2024913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573553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123945" y="3695623"/>
            <a:ext cx="4315967" cy="436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 sz="1250" b="1" i="0" dirty="0">
              <a:solidFill>
                <a:srgbClr val="171C1B"/>
              </a:solidFill>
            </a:endParaRPr>
          </a:p>
          <a:p>
            <a:pPr algn="l">
              <a:spcBef>
                <a:spcPts val="400"/>
              </a:spcBef>
            </a:pPr>
            <a:r>
              <a:rPr lang="de-CH" sz="1250" b="1" i="0" dirty="0">
                <a:solidFill>
                  <a:srgbClr val="171C1B"/>
                </a:solidFill>
              </a:rPr>
              <a:t>Zentrum ist a</a:t>
            </a:r>
            <a:r>
              <a:rPr sz="1250" b="1" i="0" dirty="0" err="1">
                <a:solidFill>
                  <a:srgbClr val="171C1B"/>
                </a:solidFill>
              </a:rPr>
              <a:t>nerkannt</a:t>
            </a:r>
            <a:r>
              <a:rPr sz="1250" b="1" i="0" dirty="0">
                <a:solidFill>
                  <a:srgbClr val="171C1B"/>
                </a:solidFill>
              </a:rPr>
              <a:t> </a:t>
            </a:r>
            <a:r>
              <a:rPr sz="1250" b="1" i="0" dirty="0" err="1">
                <a:solidFill>
                  <a:srgbClr val="171C1B"/>
                </a:solidFill>
              </a:rPr>
              <a:t>als</a:t>
            </a:r>
            <a:r>
              <a:rPr sz="1250" b="1" i="0" dirty="0">
                <a:solidFill>
                  <a:srgbClr val="171C1B"/>
                </a:solidFill>
              </a:rPr>
              <a:t> Swiss Medical Obesity Center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C75EF914-26A9-50D6-A598-6FE84184A0CA}"/>
              </a:ext>
            </a:extLst>
          </p:cNvPr>
          <p:cNvSpPr/>
          <p:nvPr/>
        </p:nvSpPr>
        <p:spPr>
          <a:xfrm>
            <a:off x="6574536" y="1630277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9623F609-CC7F-7C85-13A5-E9D470945EE4}"/>
              </a:ext>
            </a:extLst>
          </p:cNvPr>
          <p:cNvSpPr txBox="1"/>
          <p:nvPr/>
        </p:nvSpPr>
        <p:spPr>
          <a:xfrm>
            <a:off x="6711696" y="1767437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7DDF5FFA-6DA8-8847-2BF7-8BF7008BCF33}"/>
              </a:ext>
            </a:extLst>
          </p:cNvPr>
          <p:cNvSpPr txBox="1"/>
          <p:nvPr/>
        </p:nvSpPr>
        <p:spPr>
          <a:xfrm>
            <a:off x="6711696" y="2014325"/>
            <a:ext cx="15910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400" b="1" i="0" dirty="0">
                <a:solidFill>
                  <a:srgbClr val="171C1B"/>
                </a:solidFill>
              </a:rPr>
              <a:t>Postbariatrische Chirurgie</a:t>
            </a:r>
            <a:endParaRPr sz="1400" b="1" i="0" dirty="0">
              <a:solidFill>
                <a:srgbClr val="171C1B"/>
              </a:solidFill>
            </a:endParaRP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59B006AD-0144-8908-4E2B-60A6E5770CDE}"/>
              </a:ext>
            </a:extLst>
          </p:cNvPr>
          <p:cNvSpPr txBox="1"/>
          <p:nvPr/>
        </p:nvSpPr>
        <p:spPr>
          <a:xfrm>
            <a:off x="6711696" y="2562965"/>
            <a:ext cx="160934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Nachsorge</a:t>
            </a:r>
            <a:endParaRPr sz="1100" b="0" i="0" dirty="0">
              <a:solidFill>
                <a:srgbClr val="171C1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80360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88136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453335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29891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18534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95090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183733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0289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548932" y="3163824"/>
            <a:ext cx="1218895" cy="667512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5488" y="3497580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8136" y="3931920"/>
            <a:ext cx="2584094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88136" y="3986783"/>
            <a:ext cx="258409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158380" y="3831335"/>
            <a:ext cx="0" cy="210313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4427982" y="4041648"/>
            <a:ext cx="273039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27982" y="3840479"/>
            <a:ext cx="0" cy="201169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53662" y="4096511"/>
            <a:ext cx="32790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 bis Behandlungsschluss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ZSG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ZSG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13969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3" y="1993392"/>
            <a:ext cx="356615" cy="384048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2048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 + 50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754879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956047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92608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724912"/>
            <a:ext cx="927201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7481" y="277977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93161" y="2551176"/>
            <a:ext cx="0" cy="164592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893161" y="2551176"/>
            <a:ext cx="1591970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485131" y="2395728"/>
            <a:ext cx="0" cy="155448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48840" y="1920240"/>
            <a:ext cx="0" cy="1261872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148840" y="3200400"/>
            <a:ext cx="237744" cy="137160"/>
          </a:xfrm>
          <a:prstGeom prst="rect">
            <a:avLst/>
          </a:prstGeom>
          <a:pattFill prst="wdUpDiag">
            <a:fgClr>
              <a:srgbClr val="009670"/>
            </a:fgClr>
            <a:bgClr>
              <a:srgbClr val="FFFFFF"/>
            </a:bgClr>
          </a:patt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78024" y="319125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71C1B"/>
                </a:solidFill>
              </a:rPr>
              <a:t>≈ 50 postbariatrische Termine am ZSG</a:t>
            </a:r>
            <a:r>
              <a:rPr sz="800" b="0" i="0">
                <a:solidFill>
                  <a:srgbClr val="677078"/>
                </a:solidFill>
              </a:rPr>
              <a:t> · nach OP Viszeralchirurgie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38144"/>
            <a:ext cx="5120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" bIns="18288"/>
          <a:lstStyle/>
          <a:p>
            <a:pPr algn="l"/>
            <a:r>
              <a:rPr sz="900" b="1">
                <a:solidFill>
                  <a:srgbClr val="171C1B"/>
                </a:solidFill>
              </a:rPr>
              <a:t>Ernährungsberatung</a:t>
            </a:r>
            <a:r>
              <a:rPr sz="900" b="0">
                <a:solidFill>
                  <a:srgbClr val="677078"/>
                </a:solidFill>
              </a:rPr>
              <a:t>  ·  gemeinsam beansprucht von ZSG und Viszeraler Chirurgie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1645920"/>
            <a:ext cx="2606040" cy="203911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89320" y="1645920"/>
            <a:ext cx="36576" cy="2039112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ZSG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20848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09397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226771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5877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59689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2770632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72200" y="3108960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72200" y="3200400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830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  <a:p>
            <a:pPr algn="l"/>
            <a:r>
              <a:rPr sz="850" b="0" i="0">
                <a:solidFill>
                  <a:srgbClr val="677078"/>
                </a:solidFill>
              </a:rPr>
              <a:t>inkl. ≈ 50 postbariatrische Termine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803904"/>
            <a:ext cx="8046720" cy="420624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3803904"/>
            <a:ext cx="36576" cy="420624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3803904"/>
            <a:ext cx="77724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480 ärztliche Adipositas-Termine pro Monat – ein abgestimmter Pfad nützt beiden Kliniken.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3159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1.4.–1.10.2026. ZSG: gerundete Monatswerte; ärztlich = Erstkonsultationen und Jahreskontrollen, zusätzlich ≈ 50 postbariatrische Termine von Patient:innen aus der Viszeralchirurgie.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 &amp; Forschung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 und Forschung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Zentrum für Stoffwechsel und Gewichtsregulation,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1874519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1984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4072" y="196596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90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359151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Ziel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9752" y="2331720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472" y="2606039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Design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2578608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2852927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Beteiligte Zentren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9752" y="2825496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309981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Eingeschlossene Patient:innen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9752" y="3072384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3346703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Start / Laufzeit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9752" y="3319272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eigene Forschung als Basis für das gemeinsame Zentrum.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