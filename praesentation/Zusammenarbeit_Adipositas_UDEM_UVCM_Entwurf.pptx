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4"/>
    <p:sldMasterId id="2147483801" r:id="rId5"/>
    <p:sldMasterId id="2147483749" r:id="rId6"/>
    <p:sldMasterId id="2147483754" r:id="rId7"/>
    <p:sldMasterId id="2147483766" r:id="rId8"/>
    <p:sldMasterId id="2147483763" r:id="rId9"/>
  </p:sldMasterIdLst>
  <p:notesMasterIdLst>
    <p:notesMasterId r:id="rId18"/>
  </p:notesMasterIdLst>
  <p:sldIdLst>
    <p:sldId id="397" r:id="rId10"/>
    <p:sldId id="481" r:id="rId23"/>
    <p:sldId id="482" r:id="rId24"/>
    <p:sldId id="476" r:id="rId11"/>
    <p:sldId id="479" r:id="rId12"/>
    <p:sldId id="483" r:id="rId25"/>
    <p:sldId id="475" r:id="rId14"/>
    <p:sldId id="478" r:id="rId15"/>
    <p:sldId id="480" r:id="rId16"/>
    <p:sldId id="421" r:id="rId17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6051"/>
    <a:srgbClr val="19C295"/>
    <a:srgbClr val="F8CF3B"/>
    <a:srgbClr val="D1E2BC"/>
    <a:srgbClr val="4A7094"/>
    <a:srgbClr val="E4DBCF"/>
    <a:srgbClr val="8C7482"/>
    <a:srgbClr val="F5EBEF"/>
    <a:srgbClr val="666F77"/>
    <a:srgbClr val="BFE0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1035" autoAdjust="0"/>
  </p:normalViewPr>
  <p:slideViewPr>
    <p:cSldViewPr snapToGrid="0" snapToObjects="1">
      <p:cViewPr varScale="1">
        <p:scale>
          <a:sx n="112" d="100"/>
          <a:sy n="112" d="100"/>
        </p:scale>
        <p:origin x="387" y="7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28" d="100"/>
          <a:sy n="128" d="100"/>
        </p:scale>
        <p:origin x="3152" y="16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BB809-BBEE-7448-9233-6973D63859EA}" type="datetimeFigureOut">
              <a:rPr lang="de-DE" smtClean="0"/>
              <a:t>12.10.2026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Mastertextformat bearbeiten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895C04-E291-F549-9F12-4CD1EACFC0CB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193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5544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774149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9691007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9" name="Bildplatzhalter 2">
            <a:extLst>
              <a:ext uri="{FF2B5EF4-FFF2-40B4-BE49-F238E27FC236}">
                <a16:creationId xmlns:a16="http://schemas.microsoft.com/office/drawing/2014/main" id="{F7933CFC-4F5A-4A16-BEBD-7CBC4AD616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771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FCBE3FA-6E51-4604-A8C1-F31B846E61BB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32B86DD8-50B3-4848-ABF9-6EEDF69AEC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322884C1-8C9F-4CF3-8BF3-0FEEF20793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847D06EA-B3AC-400B-A5C0-A74EB21FA9C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</p:spTree>
    <p:extLst>
      <p:ext uri="{BB962C8B-B14F-4D97-AF65-F5344CB8AC3E}">
        <p14:creationId xmlns:p14="http://schemas.microsoft.com/office/powerpoint/2010/main" val="8341003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40779F-9D96-4E49-9A95-916D8689FD27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7E70A4B-63D8-4003-968B-B03A2A23989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A167FA2-7604-41AA-80F3-F3CFBEABAA4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0A37BB8-3844-483D-AA8A-059028517CB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6591C452-DBD1-49E8-925F-DDB45E5691A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6171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095239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4821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Parallelogramm 17">
              <a:extLst>
                <a:ext uri="{FF2B5EF4-FFF2-40B4-BE49-F238E27FC236}">
                  <a16:creationId xmlns:a16="http://schemas.microsoft.com/office/drawing/2014/main" id="{81749E14-C3B3-4DE6-8926-F38CC2F2EA68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8C1736A2-7D21-473D-BD43-3BD952F9428E}"/>
              </a:ext>
            </a:extLst>
          </p:cNvPr>
          <p:cNvSpPr>
            <a:spLocks noGrp="1"/>
          </p:cNvSpPr>
          <p:nvPr userDrawn="1"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4023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0CF085D-7739-4B2B-ADA0-3EA7F2236B6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DC09BA77-CA7A-430D-8338-3F5B0F6CB2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5BC4CC3B-A641-457E-A176-66B0CDF628A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D3146D11-993A-4297-A541-07127039B4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</p:spTree>
    <p:extLst>
      <p:ext uri="{BB962C8B-B14F-4D97-AF65-F5344CB8AC3E}">
        <p14:creationId xmlns:p14="http://schemas.microsoft.com/office/powerpoint/2010/main" val="1540212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6DF0C3F-007B-46B8-BA6C-21837725C60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A763453B-85FC-406B-A622-60DF3DD481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7BAE0242-799B-4BBA-8490-1F06555E974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3BF54632-D304-402E-9979-93425653C72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  <p:sp>
        <p:nvSpPr>
          <p:cNvPr id="14" name="Bildplatzhalter 2">
            <a:extLst>
              <a:ext uri="{FF2B5EF4-FFF2-40B4-BE49-F238E27FC236}">
                <a16:creationId xmlns:a16="http://schemas.microsoft.com/office/drawing/2014/main" id="{6713D3E4-37C3-4882-B46F-B103EB7B5F1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2707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7391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263" cy="3168650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7738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263" cy="2881313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57E2BEC9-DE17-49F6-A9DF-997F8B126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1"/>
            <a:ext cx="8064502" cy="618538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32080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2661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4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1149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333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8655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F0D8FBF-A07C-4866-9389-B4137901E10E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1266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79B65DD1-9D52-420C-AA23-0BCA4F6CBC97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6665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2001BB61-9874-48F8-A34A-6F400FC38416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011872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CD7D5465-DF3D-42F7-BAC6-FD3D33C123CB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0176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3243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6026149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26149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1" y="1635125"/>
            <a:ext cx="2592388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2592389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B528CB7A-D7D9-468E-81A2-9CF75ED72274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0888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A034FE27-32BF-4AC2-ABB1-F6000E7953CF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0888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1038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347788"/>
            <a:ext cx="3960812" cy="3168649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515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561435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8507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17263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949369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7263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82877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740896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347788"/>
            <a:ext cx="8064500" cy="316865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1078F63C-E67D-447C-9587-11C304B9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658D9A-D362-4E60-8D9D-D3CCBCAC1E1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28D55B-F0F9-4553-A366-20529D5A0F7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ADDFC55-CD46-43B8-BBB6-745DA8F8252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91038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635125"/>
            <a:ext cx="8064500" cy="28813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CA098561-4FE8-40A7-9C05-EBA73B8F5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4362AD-DCA6-4691-8F60-5C3F6D9C7A2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2C569EC-8102-496F-9A59-602276FD5F9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C7BA41-C6B5-4E40-B912-D7E3D397AE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32315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347786"/>
            <a:ext cx="3960813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9CDDBD1-2B5F-4590-B9C1-284DC232795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F72F00D-6964-42BD-93AC-CAD44499877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0BF42BC-CBB9-41A4-BE48-83465225F07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8217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5"/>
            <a:ext cx="3960813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E8BCB2-59A7-43B5-9F67-BAF961FD360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D6CFA7A-72A0-4FEE-9BC5-8BC8EEB683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C316F5-00D7-47DB-A7E2-E9A1062AFE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62858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3960813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34778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43438" y="298643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C3DEA4B-0DBE-4951-843B-C24B68FC75C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87510C-34B3-40A6-88C4-C03617CF0E0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8D6E12-BDD7-4A92-84CE-368D6B816F5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29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635124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50382" y="3130436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154CF33-07F1-43EA-86C7-78EBCAF24D1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E4C78C-33D6-47EC-BE3F-76362EDC680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33DD5F-53A4-4342-866C-F9A4584BE66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4869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 userDrawn="1">
          <p15:clr>
            <a:srgbClr val="A4A3A4"/>
          </p15:clr>
        </p15:guide>
        <p15:guide id="2" orient="horz" pos="1983" userDrawn="1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5327649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347788"/>
            <a:ext cx="2598519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2986438"/>
            <a:ext cx="2591576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7373529-F7A2-45A8-836D-809EBF13363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96CBC6-FA68-44FA-91C4-9C7479D150F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F4B4FB-3D17-4C33-BF59-A5C985ED258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383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5327649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635124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3130436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75597BD-C3EF-4098-8380-1789F1B74E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1C4FF3-7085-4390-B304-41BBBEAC733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4AAF0-742E-4CD3-B5AB-BFF0DA4AC9A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584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>
          <p15:clr>
            <a:srgbClr val="A4A3A4"/>
          </p15:clr>
        </p15:guide>
        <p15:guide id="2" orient="horz" pos="1983">
          <p15:clr>
            <a:srgbClr val="A4A3A4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816B3C4-5B86-40B1-9E66-9592F0482BD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EE57E07-FC83-45B1-972A-148628B64F0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671446F-3325-44B4-AAE8-F41371B15B4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67885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24EE65-E726-45BF-B35A-20A1C90EF05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B559C8B-1516-466C-871E-FC16718A50C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C72815D-657F-499B-A0FC-CD97FB5025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09097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EB69F8-F1B1-4A21-9EBE-0B3359338481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93FB787-8E90-4616-BFB8-81E4AA525C5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D5BB3F-911C-4C73-B1CE-73E27A76777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005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EC1D86-1E03-464B-94BD-4B145BF765B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2BB1E0-BEF3-4332-BEB3-11F7A60388E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225666-4ECC-4838-AD31-73C4588B0D94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50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 userDrawn="1">
          <p15:clr>
            <a:srgbClr val="A4A3A4"/>
          </p15:clr>
        </p15:guide>
        <p15:guide id="2" orient="horz" pos="1915" userDrawn="1">
          <p15:clr>
            <a:srgbClr val="A4A3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347788"/>
            <a:ext cx="8064500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EC5359AF-FB62-482D-9B05-953F313D1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795CFE1-438D-45FF-9241-3B89232677A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F693919-452E-4DAA-BE01-024CC2A327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48ED4A-E681-4314-A7D9-952F1C10EE0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477232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635125"/>
            <a:ext cx="8064500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itelplatzhalter 9">
            <a:extLst>
              <a:ext uri="{FF2B5EF4-FFF2-40B4-BE49-F238E27FC236}">
                <a16:creationId xmlns:a16="http://schemas.microsoft.com/office/drawing/2014/main" id="{7FEE2481-B64C-48DE-96E9-60DFF5D24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394AC6D-6063-4A71-8EC4-D3854AEEC58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DC81B1-A44E-438D-80D1-FA9DB536E1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40B69EE-DA62-43D9-9E89-284A0063A9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51375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F74A82-11AA-476A-ABB8-AAC8F682FC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DAB8F4A-29B3-4A57-A4DC-3E0B595F6E1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F6A78B-B405-4530-8318-6B57187B973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67654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EB9195D-040A-43D5-ADAD-796FF742FA5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3ED8D8A-A177-41D3-8865-4E10897C0ED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2898502-3D30-4F0A-9415-90766FF768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66592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D51C505-4AC8-45E3-A7EA-8EB9EBD2C10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D3003C7-355F-4823-B3B6-EF3FE330212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38668B-34A4-40E9-ACB6-DFDB5A0AD9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771923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22F657B-9177-4B97-B634-D922DB243F9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8C5C1DA-D9E6-46D2-BF2E-C50A93F09C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19B5684-6926-4C6A-A2D3-0AF9051FD8E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07012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2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1pPr>
            <a:lvl2pPr>
              <a:lnSpc>
                <a:spcPct val="90000"/>
              </a:lnSpc>
              <a:spcBef>
                <a:spcPts val="800"/>
              </a:spcBef>
              <a:defRPr sz="1200"/>
            </a:lvl2pPr>
            <a:lvl3pPr marL="5184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3pPr>
            <a:lvl4pPr marL="691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4pPr>
            <a:lvl5pPr marL="8640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5pPr>
            <a:lvl6pPr marL="1036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6pPr>
            <a:lvl7pPr marL="12096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7pPr>
            <a:lvl8pPr marL="1382400" indent="-172800">
              <a:lnSpc>
                <a:spcPts val="1400"/>
              </a:lnSpc>
              <a:spcBef>
                <a:spcPts val="800"/>
              </a:spcBef>
              <a:defRPr sz="1200" baseline="0">
                <a:latin typeface="+mn-lt"/>
              </a:defRPr>
            </a:lvl8pPr>
            <a:lvl9pPr marL="1555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51044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28912E3-7BB7-4686-92EE-D17A34165B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9750" y="1635125"/>
            <a:ext cx="8069263" cy="288131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lnSpc>
                <a:spcPts val="1400"/>
              </a:lnSpc>
              <a:defRPr/>
            </a:lvl8pPr>
            <a:lvl9pPr>
              <a:defRPr/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327647851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94682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92478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66437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903699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7534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71258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3230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3BECA2B6-A0FC-4D93-AA20-001A2E012D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81660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32FFD0BC-CDB7-439A-8302-57046DB564C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347788"/>
            <a:ext cx="8064500" cy="29527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24389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8653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630A110C-3D67-4101-87E4-F48D13C2A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CAED37D4-476A-423E-9BBF-CE21D475E31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635126"/>
            <a:ext cx="8064500" cy="26654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0721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771113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899" cy="2881313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24200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169230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399889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4511685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885420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14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0.xml"/><Relationship Id="rId19" Type="http://schemas.openxmlformats.org/officeDocument/2006/relationships/theme" Target="../theme/theme4.xml"/><Relationship Id="rId20" Type="http://schemas.openxmlformats.org/officeDocument/2006/relationships/image" Target="../media/image1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Relationship Id="rId12" Type="http://schemas.openxmlformats.org/officeDocument/2006/relationships/image" Target="../media/image1.pn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theme" Target="../theme/theme6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71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800" r:id="rId3"/>
    <p:sldLayoutId id="2147483799" r:id="rId4"/>
    <p:sldLayoutId id="2147483679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 userDrawn="1">
          <p15:clr>
            <a:srgbClr val="F26B43"/>
          </p15:clr>
        </p15:guide>
        <p15:guide id="3" orient="horz" pos="1461" userDrawn="1">
          <p15:clr>
            <a:srgbClr val="F26B43"/>
          </p15:clr>
        </p15:guide>
        <p15:guide id="4" orient="horz" pos="282" userDrawn="1">
          <p15:clr>
            <a:srgbClr val="F26B43"/>
          </p15:clr>
        </p15:guide>
        <p15:guide id="5" pos="340" userDrawn="1">
          <p15:clr>
            <a:srgbClr val="F26B43"/>
          </p15:clr>
        </p15:guide>
        <p15:guide id="6" orient="horz" pos="463" userDrawn="1">
          <p15:clr>
            <a:srgbClr val="F26B43"/>
          </p15:clr>
        </p15:guide>
        <p15:guide id="7" orient="horz" pos="962" userDrawn="1">
          <p15:clr>
            <a:srgbClr val="F26B43"/>
          </p15:clr>
        </p15:guide>
        <p15:guide id="9" pos="54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43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>
          <p15:clr>
            <a:srgbClr val="F26B43"/>
          </p15:clr>
        </p15:guide>
        <p15:guide id="3" orient="horz" pos="1461">
          <p15:clr>
            <a:srgbClr val="F26B43"/>
          </p15:clr>
        </p15:guide>
        <p15:guide id="4" orient="horz" pos="282">
          <p15:clr>
            <a:srgbClr val="F26B43"/>
          </p15:clr>
        </p15:guide>
        <p15:guide id="5" pos="340">
          <p15:clr>
            <a:srgbClr val="F26B43"/>
          </p15:clr>
        </p15:guide>
        <p15:guide id="6" orient="horz" pos="463">
          <p15:clr>
            <a:srgbClr val="F26B43"/>
          </p15:clr>
        </p15:guide>
        <p15:guide id="7" orient="horz" pos="962">
          <p15:clr>
            <a:srgbClr val="F26B43"/>
          </p15:clr>
        </p15:guide>
        <p15:guide id="9" pos="542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 txBox="1">
            <a:spLocks/>
          </p:cNvSpPr>
          <p:nvPr userDrawn="1"/>
        </p:nvSpPr>
        <p:spPr>
          <a:xfrm>
            <a:off x="545880" y="1191497"/>
            <a:ext cx="7772400" cy="73704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400"/>
              </a:lnSpc>
            </a:pPr>
            <a:endParaRPr lang="de-DE" sz="3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48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6241" y="4888800"/>
            <a:ext cx="5647288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84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idx="1"/>
          </p:nvPr>
        </p:nvSpPr>
        <p:spPr>
          <a:xfrm>
            <a:off x="539748" y="1635124"/>
            <a:ext cx="8064502" cy="287711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147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67" r:id="rId3"/>
    <p:sldLayoutId id="2147483768" r:id="rId4"/>
    <p:sldLayoutId id="2147483775" r:id="rId5"/>
    <p:sldLayoutId id="2147483776" r:id="rId6"/>
    <p:sldLayoutId id="2147483777" r:id="rId7"/>
    <p:sldLayoutId id="2147483778" r:id="rId8"/>
    <p:sldLayoutId id="2147483732" r:id="rId9"/>
    <p:sldLayoutId id="2147483733" r:id="rId10"/>
    <p:sldLayoutId id="2147483779" r:id="rId11"/>
    <p:sldLayoutId id="2147483780" r:id="rId12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5688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8532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1376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4220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7064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9908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752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3696" userDrawn="1">
          <p15:clr>
            <a:srgbClr val="F26B43"/>
          </p15:clr>
        </p15:guide>
        <p15:guide id="12" pos="3787" userDrawn="1">
          <p15:clr>
            <a:srgbClr val="F26B43"/>
          </p15:clr>
        </p15:guide>
        <p15:guide id="13" pos="4558" userDrawn="1">
          <p15:clr>
            <a:srgbClr val="F26B43"/>
          </p15:clr>
        </p15:guide>
        <p15:guide id="14" pos="4649" userDrawn="1">
          <p15:clr>
            <a:srgbClr val="F26B43"/>
          </p15:clr>
        </p15:guide>
        <p15:guide id="15" pos="1111" userDrawn="1">
          <p15:clr>
            <a:srgbClr val="F26B43"/>
          </p15:clr>
        </p15:guide>
        <p15:guide id="16" pos="1202" userDrawn="1">
          <p15:clr>
            <a:srgbClr val="F26B43"/>
          </p15:clr>
        </p15:guide>
        <p15:guide id="17" pos="1973" userDrawn="1">
          <p15:clr>
            <a:srgbClr val="F26B43"/>
          </p15:clr>
        </p15:guide>
        <p15:guide id="18" pos="2073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45880" y="1635124"/>
            <a:ext cx="8064502" cy="28813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5E585E0A-E625-49EF-BE2B-9D8025621D23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757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69" r:id="rId3"/>
    <p:sldLayoutId id="2147483770" r:id="rId4"/>
    <p:sldLayoutId id="2147483722" r:id="rId5"/>
    <p:sldLayoutId id="2147483723" r:id="rId6"/>
    <p:sldLayoutId id="2147483781" r:id="rId7"/>
    <p:sldLayoutId id="2147483782" r:id="rId8"/>
    <p:sldLayoutId id="2147483727" r:id="rId9"/>
    <p:sldLayoutId id="2147483726" r:id="rId10"/>
    <p:sldLayoutId id="2147483773" r:id="rId11"/>
    <p:sldLayoutId id="2147483774" r:id="rId12"/>
    <p:sldLayoutId id="2147483734" r:id="rId13"/>
    <p:sldLayoutId id="2147483735" r:id="rId14"/>
    <p:sldLayoutId id="2147483793" r:id="rId15"/>
    <p:sldLayoutId id="2147483794" r:id="rId16"/>
    <p:sldLayoutId id="2147483795" r:id="rId17"/>
    <p:sldLayoutId id="2147483796" r:id="rId18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5688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8532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11376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4220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7064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908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752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5596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4"/>
            <a:ext cx="8064502" cy="6148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33" name="Textplatzhalter 1">
            <a:extLst>
              <a:ext uri="{FF2B5EF4-FFF2-40B4-BE49-F238E27FC236}">
                <a16:creationId xmlns:a16="http://schemas.microsoft.com/office/drawing/2014/main" id="{B6D1D810-393C-4515-AAB2-0AD713BE6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501512F-4CFE-4BAF-A212-E97E0C88AD3E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55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7" r:id="rId7"/>
    <p:sldLayoutId id="2147483798" r:id="rId8"/>
    <p:sldLayoutId id="2147483711" r:id="rId9"/>
    <p:sldLayoutId id="2147483719" r:id="rId10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98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96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94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792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990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1188000" indent="-198000" algn="l" defTabSz="914400" rtl="0" eaLnBrk="1" latinLnBrk="0" hangingPunct="1">
        <a:lnSpc>
          <a:spcPts val="14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386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58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5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386F8C9-4864-4E81-9BE8-0D2DB59548C9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668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83" r:id="rId3"/>
    <p:sldLayoutId id="2147483784" r:id="rId4"/>
    <p:sldLayoutId id="2147483785" r:id="rId5"/>
    <p:sldLayoutId id="2147483786" r:id="rId6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728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456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184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6912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8640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0368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2096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3824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5552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849" userDrawn="1">
          <p15:clr>
            <a:srgbClr val="F26B43"/>
          </p15:clr>
        </p15:guide>
        <p15:guide id="7" orient="horz" pos="1030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26A9685-67C0-4A82-8CB8-BA2CDDC55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99" y="1028349"/>
            <a:ext cx="8515040" cy="779709"/>
          </a:xfrm>
        </p:spPr>
        <p:txBody>
          <a:bodyPr/>
          <a:lstStyle/>
          <a:p>
            <a:r>
              <a:rPr lang="de-CH" dirty="0"/>
              <a:t>Zusammenarbeit Adipositasbereich UDEM &amp; UVCM</a:t>
            </a:r>
            <a:br>
              <a:rPr lang="de-CH" dirty="0"/>
            </a:br>
            <a:r>
              <a:rPr lang="de-CH" sz="2800" dirty="0"/>
              <a:t>Gemeinsamer Auftritt und klare Zuweisungswege</a:t>
            </a:r>
            <a:br>
              <a:rPr lang="de-CH" dirty="0"/>
            </a:br>
            <a:br>
              <a:rPr lang="de-CH" dirty="0"/>
            </a:br>
            <a:br>
              <a:rPr lang="de-CH" sz="1200" dirty="0"/>
            </a:br>
            <a:endParaRPr lang="de-CH" sz="1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529C8DE-0969-45D3-3607-767F521DFE17}"/>
              </a:ext>
            </a:extLst>
          </p:cNvPr>
          <p:cNvSpPr txBox="1"/>
          <p:nvPr/>
        </p:nvSpPr>
        <p:spPr>
          <a:xfrm>
            <a:off x="376199" y="2062075"/>
            <a:ext cx="61390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400" dirty="0"/>
              <a:t>27.10.2026 – Prof. Dr. med. Christoph Stettler, Klinikdirektor UDEM</a:t>
            </a:r>
          </a:p>
        </p:txBody>
      </p:sp>
      <p:sp>
        <p:nvSpPr>
          <p:cNvPr id="7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310943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Zuweisungswege heute: fünf Eingänge, zwei Zentren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212848"/>
            <a:ext cx="13258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171C1B"/>
                </a:solidFill>
              </a:rPr>
              <a:t>Zuweisende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Hausärzt:innen, Spitäler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4813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zs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572768"/>
            <a:ext cx="2286000" cy="4326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44768" y="20482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UDEM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529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d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926080"/>
            <a:ext cx="1234440" cy="30120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44768" y="34198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UVCM · Viszerale Chirurgie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874519" y="1737360"/>
            <a:ext cx="502921" cy="8321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874519" y="2194560"/>
            <a:ext cx="502921" cy="3749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874519" y="2569464"/>
            <a:ext cx="502921" cy="822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74519" y="2569464"/>
            <a:ext cx="502921" cy="5394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874519" y="2569464"/>
            <a:ext cx="502921" cy="9966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892040" y="1645920"/>
            <a:ext cx="1097280" cy="9144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892040" y="1737360"/>
            <a:ext cx="1097280" cy="120700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92040" y="1783080"/>
            <a:ext cx="1097280" cy="41148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892040" y="2194560"/>
            <a:ext cx="1097280" cy="88696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892040" y="1920240"/>
            <a:ext cx="1097280" cy="73152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92040" y="2651760"/>
            <a:ext cx="1097280" cy="56692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892040" y="2057400"/>
            <a:ext cx="1097280" cy="105156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892040" y="3108960"/>
            <a:ext cx="1097280" cy="24688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892040" y="2176272"/>
            <a:ext cx="1097280" cy="138988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892040" y="3493008"/>
            <a:ext cx="1097280" cy="73152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377440" y="15727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InselLink</a:t>
            </a:r>
            <a:r>
              <a:rPr sz="750" b="0">
                <a:solidFill>
                  <a:srgbClr val="006B4F"/>
                </a:solidFill>
              </a:rPr>
              <a:t>   von beiden genutzt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7440" y="2029967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udem@insel.ch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77440" y="24871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bauchzentrum@insel.ch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29443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Telefon Viszerale Chirurgie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77440" y="34015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Online-Formular adipositasbern.ch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720840" y="2304288"/>
            <a:ext cx="0" cy="54864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12280" y="243230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C0503A"/>
                </a:solidFill>
              </a:rPr>
              <a:t>Weiterweisung</a:t>
            </a:r>
            <a:endParaRPr sz="950" b="1" i="0" dirty="0">
              <a:solidFill>
                <a:srgbClr val="C0503A"/>
              </a:solidFill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48640" y="3931920"/>
            <a:ext cx="36576" cy="7315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400507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9A4A38"/>
                </a:solidFill>
              </a:rPr>
              <a:t>WARTEZEIT BEI FEHLZUWEISUNG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422452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677078"/>
                </a:solidFill>
              </a:rPr>
              <a:t>Platzhalter – Zahlen zu definieren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443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7731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+ 1–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400800" y="4148587"/>
            <a:ext cx="21031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dirty="0">
                <a:solidFill>
                  <a:srgbClr val="C0503A"/>
                </a:solidFill>
              </a:rPr>
              <a:t>= bis </a:t>
            </a:r>
            <a:r>
              <a:rPr sz="1700" b="1" i="0" dirty="0" err="1">
                <a:solidFill>
                  <a:srgbClr val="C0503A"/>
                </a:solidFill>
              </a:rPr>
              <a:t>zu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lang="de-CH" sz="1700" b="1" i="0" dirty="0">
                <a:solidFill>
                  <a:srgbClr val="C0503A"/>
                </a:solidFill>
              </a:rPr>
              <a:t>6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sz="1700" b="1" i="0" dirty="0" err="1">
                <a:solidFill>
                  <a:srgbClr val="C0503A"/>
                </a:solidFill>
              </a:rPr>
              <a:t>Monate</a:t>
            </a:r>
            <a:endParaRPr sz="1700" b="1" i="0" dirty="0">
              <a:solidFill>
                <a:srgbClr val="C0503A"/>
              </a:solidFill>
            </a:endParaRPr>
          </a:p>
        </p:txBody>
      </p:sp>
      <p:cxnSp>
        <p:nvCxnSpPr>
          <p:cNvPr id="6" name="Connector 46">
            <a:extLst>
              <a:ext uri="{FF2B5EF4-FFF2-40B4-BE49-F238E27FC236}">
                <a16:creationId xmlns:a16="http://schemas.microsoft.com/office/drawing/2014/main" id="{44B12EFF-16E5-EE50-296F-D35DE5D9872F}"/>
              </a:ext>
            </a:extLst>
          </p:cNvPr>
          <p:cNvCxnSpPr>
            <a:cxnSpLocks/>
          </p:cNvCxnSpPr>
          <p:nvPr/>
        </p:nvCxnSpPr>
        <p:spPr>
          <a:xfrm>
            <a:off x="7790613" y="2322575"/>
            <a:ext cx="0" cy="548641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46">
            <a:extLst>
              <a:ext uri="{FF2B5EF4-FFF2-40B4-BE49-F238E27FC236}">
                <a16:creationId xmlns:a16="http://schemas.microsoft.com/office/drawing/2014/main" id="{3C6A3ED9-C14A-5248-3A79-12C8B0A03FCA}"/>
              </a:ext>
            </a:extLst>
          </p:cNvPr>
          <p:cNvCxnSpPr>
            <a:cxnSpLocks/>
          </p:cNvCxnSpPr>
          <p:nvPr/>
        </p:nvCxnSpPr>
        <p:spPr>
          <a:xfrm>
            <a:off x="4375367" y="4279392"/>
            <a:ext cx="337882" cy="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8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  <p:bldP spid="45" grpId="0" animBg="1"/>
      <p:bldP spid="46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 neu: wenige Eingänge, klare Kriterien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677078"/>
                </a:solidFill>
              </a:rPr>
              <a:t>HEUTE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173736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InselLink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0312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udem@insel.ch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46888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bauchzentrum@insel.ch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346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Telefon Viszerale Chirurgie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20040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Online-Formular adipositasbern.ch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761488" y="2450592"/>
            <a:ext cx="384048" cy="310896"/>
          </a:xfrm>
          <a:prstGeom prst="rightArrow">
            <a:avLst/>
          </a:prstGeom>
          <a:solidFill>
            <a:srgbClr val="D5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91840" y="1481328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NEU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18470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InselLink</a:t>
            </a:r>
          </a:p>
          <a:p>
            <a:pPr algn="l"/>
            <a:r>
              <a:rPr sz="750" b="0">
                <a:solidFill>
                  <a:srgbClr val="006B4F"/>
                </a:solidFill>
              </a:rPr>
              <a:t>bleibt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243230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12080" y="2039112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212080" y="2624328"/>
            <a:ext cx="457200" cy="0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212080" y="2624328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669280" y="2194560"/>
            <a:ext cx="1325880" cy="86868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Triage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nach definierten Kriterien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95160" y="2624328"/>
            <a:ext cx="274320" cy="0"/>
          </a:xfrm>
          <a:prstGeom prst="line">
            <a:avLst/>
          </a:prstGeom>
          <a:ln w="2222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269480" y="2103120"/>
            <a:ext cx="1325880" cy="1051560"/>
          </a:xfrm>
          <a:prstGeom prst="rect">
            <a:avLst/>
          </a:prstGeom>
          <a:solidFill>
            <a:srgbClr val="F0F6F3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171C1B"/>
                </a:solidFill>
              </a:rPr>
              <a:t>Richtiger Behandlungspfad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ab dem Erstkontakt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977639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977639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" y="3977639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 i="0">
                <a:solidFill>
                  <a:srgbClr val="171C1B"/>
                </a:solidFill>
              </a:rPr>
              <a:t>Weniger Eingänge, klare Kriterien, keine Umwege zwischen den Zentren.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34" grpId="0" animBg="1"/>
      <p:bldP spid="3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>
                <a:solidFill>
                  <a:srgbClr val="171C1B"/>
                </a:solidFill>
              </a:rPr>
              <a:t>Heute: </a:t>
            </a:r>
            <a:r>
              <a:rPr lang="de-CH" sz="2150" b="1" i="0" dirty="0">
                <a:solidFill>
                  <a:srgbClr val="171C1B"/>
                </a:solidFill>
              </a:rPr>
              <a:t>Zwei Webauftritte für Adipositas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stoffwechsel-gewichtsregulation.insel.ch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adipositasbern.ch</a:t>
            </a:r>
          </a:p>
        </p:txBody>
      </p:sp>
      <p:pic>
        <p:nvPicPr>
          <p:cNvPr id="22" name="Picture 21" descr="z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pic>
        <p:nvPicPr>
          <p:cNvPr id="23" name="Picture 22" descr="a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4" name="Rounded Rectangle 23"/>
          <p:cNvSpPr/>
          <p:nvPr/>
        </p:nvSpPr>
        <p:spPr>
          <a:xfrm>
            <a:off x="548640" y="3255264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Insel-Standard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255264"/>
            <a:ext cx="2331720" cy="23774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 dirty="0">
                <a:solidFill>
                  <a:srgbClr val="9B6051"/>
                </a:solidFill>
              </a:rPr>
              <a:t>Extern </a:t>
            </a:r>
            <a:r>
              <a:rPr sz="850" b="1" dirty="0" err="1">
                <a:solidFill>
                  <a:srgbClr val="9B6051"/>
                </a:solidFill>
              </a:rPr>
              <a:t>gehostet</a:t>
            </a:r>
            <a:r>
              <a:rPr sz="850" b="1" dirty="0">
                <a:solidFill>
                  <a:srgbClr val="9B6051"/>
                </a:solidFill>
              </a:rPr>
              <a:t> · </a:t>
            </a:r>
            <a:r>
              <a:rPr sz="850" b="1" dirty="0" err="1">
                <a:solidFill>
                  <a:srgbClr val="9B6051"/>
                </a:solidFill>
              </a:rPr>
              <a:t>nicht</a:t>
            </a:r>
            <a:r>
              <a:rPr sz="850" b="1" dirty="0">
                <a:solidFill>
                  <a:srgbClr val="9B6051"/>
                </a:solidFill>
              </a:rPr>
              <a:t> Insel-Standard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1481328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DOPPELTE INHALTE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1673352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Websites, zweimal Pflegeaufwand.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139696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UNKLARE ZUSTÄNDIGKEIT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331720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Zuweisende und Patient:innen wissen nicht, wo sie sich melden sollen.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2798064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UNEINHEITLICHER AUFTRITT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2990088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Designs, zwei Hosting-Lösungen.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456432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GERINGERE SICHTBARKEIT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648456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Beide Seiten konkurrieren um dieselben Suchbegriffe.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24528"/>
            <a:ext cx="8046720" cy="384048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4224528"/>
            <a:ext cx="36576" cy="384048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224528"/>
            <a:ext cx="7772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71C1B"/>
                </a:solidFill>
              </a:rPr>
              <a:t>Für Zuweisende und Patient:innen ist heute nicht erkennbar, dass es ein gemeinsames Angebot 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Eine gemeinsame Website nach Insel-Standard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Beispiel: Inhalte und Videos der Bariatrie integriert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pic>
        <p:nvPicPr>
          <p:cNvPr id="21" name="Picture 20" descr="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7904"/>
            <a:ext cx="4846320" cy="3106491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grpSp>
        <p:nvGrpSpPr>
          <p:cNvPr id="4" name="Group 3"/>
          <p:cNvGrpSpPr/>
          <p:nvPr/>
        </p:nvGrpSpPr>
        <p:grpSpPr>
          <a:xfrm>
            <a:off x="3136574" y="3015416"/>
            <a:ext cx="1967605" cy="726948"/>
            <a:chOff x="3136574" y="3015416"/>
            <a:chExt cx="1967605" cy="726948"/>
          </a:xfrm>
        </p:grpSpPr>
        <p:pic>
          <p:nvPicPr>
            <p:cNvPr id="22" name="Picture 21" descr="vid1.jpg"/>
            <p:cNvPicPr>
              <a:picLocks noChangeAspect="1"/>
            </p:cNvPicPr>
            <p:nvPr/>
          </p:nvPicPr>
          <p:blipFill>
            <a:blip r:embed="rId3"/>
            <a:srcRect t="17159" b="17159"/>
            <a:stretch>
              <a:fillRect/>
            </a:stretch>
          </p:blipFill>
          <p:spPr>
            <a:xfrm>
              <a:off x="3136574" y="3015416"/>
              <a:ext cx="1967605" cy="726948"/>
            </a:xfrm>
            <a:prstGeom prst="rect">
              <a:avLst/>
            </a:prstGeom>
          </p:spPr>
        </p:pic>
        <p:sp>
          <p:nvSpPr>
            <p:cNvPr id="23" name="Rectangle 22"/>
            <p:cNvSpPr/>
            <p:nvPr/>
          </p:nvSpPr>
          <p:spPr>
            <a:xfrm>
              <a:off x="3136574" y="3559484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18288" rIns="54864" bIns="18288" rtlCol="0" anchor="ctr"/>
            <a:lstStyle/>
            <a:p>
              <a:pPr algn="l"/>
              <a:r>
                <a:rPr lang="de-CH" sz="700" b="1" dirty="0">
                  <a:solidFill>
                    <a:srgbClr val="FFFFFF"/>
                  </a:solidFill>
                </a:rPr>
                <a:t>Unsere Sprechstunde für Übergewicht</a:t>
              </a:r>
            </a:p>
          </p:txBody>
        </p:sp>
        <p:sp>
          <p:nvSpPr>
            <p:cNvPr id="24" name="Isosceles Triangle 23"/>
            <p:cNvSpPr/>
            <p:nvPr/>
          </p:nvSpPr>
          <p:spPr>
            <a:xfrm rot="5400000">
              <a:off x="4028937" y="3177722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3136574" y="3810213"/>
            <a:ext cx="1967605" cy="726948"/>
            <a:chOff x="3136574" y="3810213"/>
            <a:chExt cx="1967605" cy="726948"/>
          </a:xfrm>
        </p:grpSpPr>
        <p:pic>
          <p:nvPicPr>
            <p:cNvPr id="25" name="Picture 24" descr="vid2.jpg"/>
            <p:cNvPicPr>
              <a:picLocks noChangeAspect="1"/>
            </p:cNvPicPr>
            <p:nvPr/>
          </p:nvPicPr>
          <p:blipFill>
            <a:blip r:embed="rId4"/>
            <a:srcRect t="17159" b="17159"/>
            <a:stretch>
              <a:fillRect/>
            </a:stretch>
          </p:blipFill>
          <p:spPr>
            <a:xfrm>
              <a:off x="3136574" y="3810213"/>
              <a:ext cx="1967605" cy="726948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3136574" y="4354281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18288" rIns="54864" bIns="18288" rtlCol="0" anchor="ctr"/>
            <a:lstStyle/>
            <a:p>
              <a:pPr algn="l"/>
              <a:r>
                <a:rPr sz="700" b="1" dirty="0" err="1">
                  <a:solidFill>
                    <a:srgbClr val="FFFFFF"/>
                  </a:solidFill>
                </a:rPr>
                <a:t>Übergewichtschirurgie</a:t>
              </a:r>
              <a:r>
                <a:rPr sz="700" b="1" dirty="0">
                  <a:solidFill>
                    <a:srgbClr val="FFFFFF"/>
                  </a:solidFill>
                </a:rPr>
                <a:t> – was Sie </a:t>
              </a:r>
              <a:r>
                <a:rPr sz="700" b="1" dirty="0" err="1">
                  <a:solidFill>
                    <a:srgbClr val="FFFFFF"/>
                  </a:solidFill>
                </a:rPr>
                <a:t>schon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immer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wissen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wollten</a:t>
              </a:r>
              <a:endParaRPr sz="700" b="1" dirty="0">
                <a:solidFill>
                  <a:srgbClr val="FFFFFF"/>
                </a:solidFill>
              </a:endParaRPr>
            </a:p>
          </p:txBody>
        </p:sp>
        <p:sp>
          <p:nvSpPr>
            <p:cNvPr id="27" name="Isosceles Triangle 26"/>
            <p:cNvSpPr/>
            <p:nvPr/>
          </p:nvSpPr>
          <p:spPr>
            <a:xfrm rot="5400000">
              <a:off x="4028937" y="3972519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</p:grpSp>
      <p:pic>
        <p:nvPicPr>
          <p:cNvPr id="28" name="Picture 27" descr="a_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1517904"/>
            <a:ext cx="1371600" cy="857250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9" name="Rounded Rectangle 28"/>
          <p:cNvSpPr/>
          <p:nvPr/>
        </p:nvSpPr>
        <p:spPr>
          <a:xfrm>
            <a:off x="7132320" y="15544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9A4A38"/>
                </a:solidFill>
              </a:rPr>
              <a:t>adipositasbern.ch</a:t>
            </a:r>
          </a:p>
          <a:p>
            <a:pPr algn="ctr"/>
            <a:r>
              <a:rPr sz="750" b="0">
                <a:solidFill>
                  <a:srgbClr val="9A4A38"/>
                </a:solidFill>
              </a:rPr>
              <a:t>extern gehostet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195681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→ Insel-Standard</a:t>
            </a:r>
          </a:p>
          <a:p>
            <a:pPr algn="ctr"/>
            <a:r>
              <a:rPr sz="750" b="0">
                <a:solidFill>
                  <a:srgbClr val="006B4F"/>
                </a:solidFill>
              </a:rPr>
              <a:t>gehostet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256032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EINSTIEGSPUNKT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752344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Alle Therapien unter einem Dach.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218687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INHALTE INTEGRIERT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410711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Chirurgie-Seiten und Videos der Bariatrie.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3877056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AUFTRITT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06908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Einheitlich, gepflegt, besser auffindbar.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78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32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Umsetzung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 err="1">
                <a:solidFill>
                  <a:srgbClr val="171C1B"/>
                </a:solidFill>
              </a:rPr>
              <a:t>Nächste</a:t>
            </a:r>
            <a:r>
              <a:rPr sz="2150" b="1" i="0" dirty="0">
                <a:solidFill>
                  <a:srgbClr val="171C1B"/>
                </a:solidFill>
              </a:rPr>
              <a:t> </a:t>
            </a:r>
            <a:r>
              <a:rPr sz="2150" b="1" i="0" dirty="0" err="1">
                <a:solidFill>
                  <a:srgbClr val="171C1B"/>
                </a:solidFill>
              </a:rPr>
              <a:t>Schritte</a:t>
            </a:r>
            <a:r>
              <a:rPr sz="2150" b="1" i="0" dirty="0">
                <a:solidFill>
                  <a:srgbClr val="171C1B"/>
                </a:solidFill>
              </a:rPr>
              <a:t> und </a:t>
            </a:r>
            <a:r>
              <a:rPr sz="2150" b="1" i="0" dirty="0" err="1">
                <a:solidFill>
                  <a:srgbClr val="171C1B"/>
                </a:solidFill>
              </a:rPr>
              <a:t>Zeitplan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Entwurf zur gemeinsamen Festlegung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Grundsatz klären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Stossrichtung und Projektteam UDEM / UVCM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24328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61488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Zuweisung definieren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61488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Kriterien, Stellen und Triage-Prozess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61488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72584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09744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2176272"/>
            <a:ext cx="1609344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171C1B"/>
                </a:solidFill>
              </a:rPr>
              <a:t>Website </a:t>
            </a:r>
            <a:r>
              <a:rPr lang="de-CH" sz="1350" b="1" i="0" dirty="0">
                <a:solidFill>
                  <a:srgbClr val="171C1B"/>
                </a:solidFill>
              </a:rPr>
              <a:t>definieren</a:t>
            </a:r>
            <a:endParaRPr sz="1350" b="1" i="0" dirty="0">
              <a:solidFill>
                <a:srgbClr val="171C1B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809744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Struktur, Inhalte, Umzug nach Insel-Standard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09744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0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Einführen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Go-live und Information der Zuweisenden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0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48640" y="4069080"/>
            <a:ext cx="36576" cy="45720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406908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Zeitplan, Zuständigkeiten und Kriterien sind Platzhalter und werden gemeinsam festgelegt.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ED95D39-7202-4A89-8FC1-3B34C5D89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Inselspital, Universitätsklinik für Diabetologie, Endokrinologie, Ernährungsmedizin und Metabolismus, Freiburgstrasse 15, 3010 Bern</a:t>
            </a:r>
            <a:endParaRPr lang="en-GB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012F4C9-0979-4D97-9A9C-3D67758FB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Zur Diskussion</a:t>
            </a:r>
            <a:br>
              <a:rPr lang="de-CH" dirty="0"/>
            </a:br>
            <a:br>
              <a:rPr lang="de-CH" sz="2800" b="0" dirty="0">
                <a:solidFill>
                  <a:srgbClr val="171C1B"/>
                </a:solidFill>
                <a:latin typeface="Arial"/>
              </a:rPr>
            </a:br>
            <a:endParaRPr lang="de-CH" dirty="0"/>
          </a:p>
        </p:txBody>
      </p:sp>
      <p:sp>
        <p:nvSpPr>
          <p:cNvPr id="4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204105731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Adipositas-Sprechstunde am UDEM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Strukturierter Behandlungspfad – rund 780 Kontakte pro Monat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1627632"/>
            <a:ext cx="25603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300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Ärztliche Konsultationen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2029968" y="1920240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231136" y="190195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1627632"/>
            <a:ext cx="2560320" cy="457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6432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300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6432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Metabolic Assessments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BIA &amp; Fibroscan, vor jeder ärztl. Konsultation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40" y="1627632"/>
            <a:ext cx="2560320" cy="45720"/>
          </a:xfrm>
          <a:prstGeom prst="rect">
            <a:avLst/>
          </a:prstGeom>
          <a:solidFill>
            <a:srgbClr val="677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1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180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1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Meilensteinkontrollen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1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durch dipl. Pflegefachpersonen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2880360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BEHANDLUNGSPFAD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88136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Metabolic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Assessment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BIA &amp; Fibroscan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453335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</a:rPr>
              <a:t>Erstkonsultation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329891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818534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Meilenstein-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kontrolle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dipl. Pflege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695090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183733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Metabolic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Assessment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BIA &amp; Fibroscan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060289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6548932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</a:rPr>
              <a:t>Jahreskontrolle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5488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88136" y="3931920"/>
            <a:ext cx="2584094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88136" y="3986783"/>
            <a:ext cx="25840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77078"/>
                </a:solidFill>
              </a:rPr>
              <a:t>Einstieg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158380" y="3831335"/>
            <a:ext cx="0" cy="210313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4427982" y="4041648"/>
            <a:ext cx="2730398" cy="0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427982" y="3840479"/>
            <a:ext cx="0" cy="201169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153662" y="4096511"/>
            <a:ext cx="32790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9670"/>
                </a:solidFill>
              </a:rPr>
              <a:t>jährlich wiederkehrend bis Behandlungsschluss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Adipositas-Sprechstunden im Vergleich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Ärztliche Termine mit Adipositas pro Monat – UDEM und Viszerale Chirurgie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ÄRZTLICHE TERMINE PRO MONAT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01168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UDEM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1945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48840" y="1993392"/>
            <a:ext cx="2139696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06823" y="1993392"/>
            <a:ext cx="356615" cy="384048"/>
          </a:xfrm>
          <a:prstGeom prst="rect">
            <a:avLst/>
          </a:prstGeom>
          <a:pattFill prst="wdUpDiag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20482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300 + 50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4754879" y="2423160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956047" y="240487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7432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Viszerale Chirurgie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92608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UVCM · Besuchsgrund Adipositas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2724912"/>
            <a:ext cx="927201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67481" y="277977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130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2893161" y="2551176"/>
            <a:ext cx="0" cy="164592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893161" y="2551176"/>
            <a:ext cx="1591970" cy="0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485131" y="2395728"/>
            <a:ext cx="0" cy="155448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48840" y="1920240"/>
            <a:ext cx="0" cy="1261872"/>
          </a:xfrm>
          <a:prstGeom prst="line">
            <a:avLst/>
          </a:prstGeom>
          <a:ln w="12700">
            <a:solidFill>
              <a:srgbClr val="67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148840" y="3200400"/>
            <a:ext cx="237744" cy="137160"/>
          </a:xfrm>
          <a:prstGeom prst="rect">
            <a:avLst/>
          </a:prstGeom>
          <a:pattFill prst="wdUpDiag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78024" y="3191256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71C1B"/>
                </a:solidFill>
              </a:rPr>
              <a:t>≈ 50 postbariatrische Termine am UDEM</a:t>
            </a:r>
            <a:r>
              <a:rPr sz="800" b="0" i="0">
                <a:solidFill>
                  <a:srgbClr val="677078"/>
                </a:solidFill>
              </a:rPr>
              <a:t> · nach OP Viszeralchirurgie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645920"/>
            <a:ext cx="2606040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1645920"/>
            <a:ext cx="36576" cy="21031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0" y="1773936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ZUSÄTZLICH AM UDEM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20299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300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203911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Metabolic Assessments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221284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BIA &amp; Fibroscan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4323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244144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Meilensteinkontrollen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261518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dipl. Pflege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28346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280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03720" y="284378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Ernährungsberatungen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03720" y="30175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aus UDEM &amp; Viszeralchirurgie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172200" y="3282696"/>
            <a:ext cx="2240280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172200" y="334670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≈ 1'110</a:t>
            </a:r>
            <a:r>
              <a:rPr sz="1000" b="0" i="0">
                <a:solidFill>
                  <a:srgbClr val="171C1B"/>
                </a:solidFill>
              </a:rPr>
              <a:t> Kontakte pro Monat gesamt</a:t>
            </a:r>
          </a:p>
          <a:p>
            <a:pPr algn="l"/>
            <a:r>
              <a:rPr sz="850" b="0" i="0">
                <a:solidFill>
                  <a:srgbClr val="677078"/>
                </a:solidFill>
              </a:rPr>
              <a:t>inkl. ≈ 50 postbariatrische Termine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858768"/>
            <a:ext cx="8046720" cy="402336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3858768"/>
            <a:ext cx="36576" cy="402336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3858768"/>
            <a:ext cx="77724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Zusammen rund 480 ärztliche Adipositas-Termine pro Monat – ein abgestimmter Pfad nützt beiden Kliniken.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334256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77078"/>
                </a:solidFill>
              </a:rPr>
              <a:t>Viszerale Chirurgie: ärztliche Termine mit Besuchsgrund «Adipositas», Monatsdurchschnitt 1.4.–1.10.2026. UDEM: gerundete Monatswerte; ärztlich = Erstkonsultationen und Jahreskontrollen, zusätzlich postbariatrische Termine. Ernährungsberatung zählt zum UDEM.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Zielbild: ein Zentrum, alle Therapien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Interdisziplinär aus einer Hand – mit zertifizierter Qualität und eigener Forschung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rapezoid 20"/>
          <p:cNvSpPr/>
          <p:nvPr/>
        </p:nvSpPr>
        <p:spPr>
          <a:xfrm>
            <a:off x="548640" y="1572768"/>
            <a:ext cx="8046720" cy="365760"/>
          </a:xfrm>
          <a:prstGeom prst="trapezoid">
            <a:avLst>
              <a:gd name="adj" fmla="val 6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</a:rPr>
              <a:t>Gemeinsames Adipositaszentrum UDEM &amp; UVCM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011680"/>
            <a:ext cx="1796796" cy="100584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112264"/>
            <a:ext cx="15224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286000"/>
            <a:ext cx="15224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1C1B"/>
                </a:solidFill>
              </a:rPr>
              <a:t>Ernährung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633472"/>
            <a:ext cx="1522476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Ernährungsmedizin &amp; Ernährungsberatung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92908" y="2011680"/>
            <a:ext cx="1796796" cy="100584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0068" y="2112264"/>
            <a:ext cx="15224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0068" y="2286000"/>
            <a:ext cx="15224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1C1B"/>
                </a:solidFill>
              </a:rPr>
              <a:t>Medikamentöse Therapie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0068" y="2633472"/>
            <a:ext cx="1522476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Abklärung, Behandlung und Verlauf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54296" y="2011680"/>
            <a:ext cx="1796796" cy="100584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91456" y="2112264"/>
            <a:ext cx="15224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09670"/>
                </a:solidFill>
              </a:rPr>
              <a:t>UVCM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1456" y="2286000"/>
            <a:ext cx="15224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1C1B"/>
                </a:solidFill>
              </a:rPr>
              <a:t>Bariatrische Chirurgie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91456" y="2633472"/>
            <a:ext cx="1522476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Operative und endoskopische Verfahren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15684" y="2011680"/>
            <a:ext cx="1796796" cy="100584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2844" y="2112264"/>
            <a:ext cx="15224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52844" y="2286000"/>
            <a:ext cx="15224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1C1B"/>
                </a:solidFill>
              </a:rPr>
              <a:t>Postbariatrische Chirurgie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52844" y="2633472"/>
            <a:ext cx="1522476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Nachsorge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081528"/>
            <a:ext cx="8046720" cy="36576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3172968"/>
            <a:ext cx="3977639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326440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QUALITÄT</a:t>
            </a:r>
          </a:p>
        </p:txBody>
      </p:sp>
      <p:pic>
        <p:nvPicPr>
          <p:cNvPr id="41" name="Picture 40" descr="sm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483864"/>
            <a:ext cx="457200" cy="4572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325880" y="354787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Bariatrisches Referenzzentrum</a:t>
            </a:r>
          </a:p>
          <a:p>
            <a:pPr algn="l"/>
            <a:r>
              <a:rPr sz="850" b="0" i="0">
                <a:solidFill>
                  <a:srgbClr val="677078"/>
                </a:solidFill>
              </a:rPr>
              <a:t>anerkannt durch die SMOB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80" y="3602736"/>
            <a:ext cx="566928" cy="17373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FFFFFF"/>
                </a:solidFill>
              </a:rPr>
              <a:t>UVCM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13232" y="4014216"/>
            <a:ext cx="3648456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078224"/>
            <a:ext cx="1325880" cy="271203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2194560" y="414223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EASO COMs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40480" y="4151376"/>
            <a:ext cx="566928" cy="17373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FFFFFF"/>
                </a:solidFill>
              </a:rPr>
              <a:t>ZSG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13232" y="4407408"/>
            <a:ext cx="3648456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13232" y="4480560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Swiss Medical Obesity Center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40480" y="4480560"/>
            <a:ext cx="566928" cy="17373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FFFFFF"/>
                </a:solidFill>
              </a:rPr>
              <a:t>ZSG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17720" y="3172968"/>
            <a:ext cx="3977639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82312" y="326440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FORSCHUNG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82312" y="3557016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Swiss Obesity Study (SOS)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26679" y="3566160"/>
            <a:ext cx="713232" cy="17373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FFFFFF"/>
                </a:solidFill>
              </a:rPr>
              <a:t>Lead: UDEM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82312" y="379476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Longitudinale Real-World-Daten zur Adipositasversorgung in der Schweiz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82312" y="406908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C1B"/>
                </a:solidFill>
              </a:rPr>
              <a:t>≈ 2'500</a:t>
            </a:r>
            <a:r>
              <a:rPr sz="900" b="0" i="0">
                <a:solidFill>
                  <a:srgbClr val="677078"/>
                </a:solidFill>
              </a:rPr>
              <a:t> Teilnehmende seit 2025</a:t>
            </a:r>
            <a:r>
              <a:rPr sz="1300" b="1" i="0">
                <a:solidFill>
                  <a:srgbClr val="171C1B"/>
                </a:solidFill>
              </a:rPr>
              <a:t>     10 Jahre</a:t>
            </a:r>
            <a:r>
              <a:rPr sz="900" b="0" i="0">
                <a:solidFill>
                  <a:srgbClr val="677078"/>
                </a:solidFill>
              </a:rPr>
              <a:t> Follow-up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 Titel Insel Spital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4C0F31AB-11C0-4408-956C-E9B98EDB0FAB}"/>
    </a:ext>
  </a:extLst>
</a:theme>
</file>

<file path=ppt/theme/theme2.xml><?xml version="1.0" encoding="utf-8"?>
<a:theme xmlns:a="http://schemas.openxmlformats.org/drawingml/2006/main" name="1_Master Titel Insel Spital mit UCI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BF4D9168-52B6-4F7D-9816-FC1A762958C4}"/>
    </a:ext>
  </a:extLst>
</a:theme>
</file>

<file path=ppt/theme/theme3.xml><?xml version="1.0" encoding="utf-8"?>
<a:theme xmlns:a="http://schemas.openxmlformats.org/drawingml/2006/main" name="Master Inhalt Insel Spital 18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904E66F1-9887-40AC-A850-B8238F8127FE}"/>
    </a:ext>
  </a:extLst>
</a:theme>
</file>

<file path=ppt/theme/theme4.xml><?xml version="1.0" encoding="utf-8"?>
<a:theme xmlns:a="http://schemas.openxmlformats.org/drawingml/2006/main" name="Master Inhalt Insel Spital 14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FC3BB2A8-8B94-4B57-8A93-ACBBD1F9B90F}"/>
    </a:ext>
  </a:extLst>
</a:theme>
</file>

<file path=ppt/theme/theme5.xml><?xml version="1.0" encoding="utf-8"?>
<a:theme xmlns:a="http://schemas.openxmlformats.org/drawingml/2006/main" name="Master Inhalt Insel Spital 12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A9936B5D-6CF3-4AE6-91B6-8C4AD06F476B}"/>
    </a:ext>
  </a:extLst>
</a:theme>
</file>

<file path=ppt/theme/theme6.xml><?xml version="1.0" encoding="utf-8"?>
<a:theme xmlns:a="http://schemas.openxmlformats.org/drawingml/2006/main" name="Master Inhalt Insel Spital 10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005E663E-20D0-4D92-A153-AF68010EB01F}"/>
    </a:ext>
  </a:extLst>
</a:theme>
</file>

<file path=ppt/theme/theme7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C61BAC2D613B146B62EA0C89E8ABE0B" ma:contentTypeVersion="1" ma:contentTypeDescription="Ein neues Dokument erstellen." ma:contentTypeScope="" ma:versionID="b96f590150f6c51695eb02ee05cd3cc8">
  <xsd:schema xmlns:xsd="http://www.w3.org/2001/XMLSchema" xmlns:xs="http://www.w3.org/2001/XMLSchema" xmlns:p="http://schemas.microsoft.com/office/2006/metadata/properties" xmlns:ns2="70db88b2-e820-42ba-aca9-d1475689a070" targetNamespace="http://schemas.microsoft.com/office/2006/metadata/properties" ma:root="true" ma:fieldsID="dafaf2c359ac23becbe82584ea0d56f4" ns2:_="">
    <xsd:import namespace="70db88b2-e820-42ba-aca9-d1475689a070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db88b2-e820-42ba-aca9-d1475689a07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12E4E3B-3738-4EE9-BE0A-FF791C330B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0db88b2-e820-42ba-aca9-d1475689a0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45AA231-31C2-416F-8FEB-CA616B861A3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DF66D4-6F61-45C7-AC76-432042C7F152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terms/"/>
    <ds:schemaRef ds:uri="70db88b2-e820-42ba-aca9-d1475689a070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Nachfrage &amp; Angebot UDEM Sprechstunden_Juni 2025</Template>
  <TotalTime>0</TotalTime>
  <Words>481</Words>
  <Application>Microsoft Office PowerPoint</Application>
  <PresentationFormat>Bildschirmpräsentation (16:9)</PresentationFormat>
  <Paragraphs>139</Paragraphs>
  <Slides>8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6</vt:i4>
      </vt:variant>
      <vt:variant>
        <vt:lpstr>Folientitel</vt:lpstr>
      </vt:variant>
      <vt:variant>
        <vt:i4>8</vt:i4>
      </vt:variant>
    </vt:vector>
  </HeadingPairs>
  <TitlesOfParts>
    <vt:vector size="16" baseType="lpstr">
      <vt:lpstr>Arial</vt:lpstr>
      <vt:lpstr>Calibri</vt:lpstr>
      <vt:lpstr>Master Titel Insel Spital</vt:lpstr>
      <vt:lpstr>1_Master Titel Insel Spital mit UCI</vt:lpstr>
      <vt:lpstr>Master Inhalt Insel Spital 18pt</vt:lpstr>
      <vt:lpstr>Master Inhalt Insel Spital 14pt</vt:lpstr>
      <vt:lpstr>Master Inhalt Insel Spital 12pt</vt:lpstr>
      <vt:lpstr>Master Inhalt Insel Spital 10pt</vt:lpstr>
      <vt:lpstr>Zusammenarbeit Adipositasbereich UDEM &amp; UVCM Gemeinsamer Auftritt und klare Zuweisungswege  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Zur Diskussion  </vt:lpstr>
    </vt:vector>
  </TitlesOfParts>
  <Company>Insel Gruppe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Nachfrage vs. Angebot UDEM Sprechstunden Nachfrage = verordnete aber noch nicht geplante Sprechstunden Angebot = freie noch nicht gebuchte Sprechstundenzeitfenster Stand der Zahlen: 29.06.2025</dc:title>
  <dc:creator>Magariños Lorenzo, David</dc:creator>
  <cp:lastModifiedBy>Burgener, Vincent</cp:lastModifiedBy>
  <cp:revision>91</cp:revision>
  <dcterms:created xsi:type="dcterms:W3CDTF">2025-07-28T07:27:53Z</dcterms:created>
  <dcterms:modified xsi:type="dcterms:W3CDTF">2026-10-12T11:42:44Z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0x010100AC61BAC2D613B146B62EA0C89E8ABE0B</vt:lpwstr>
  </property>
</Properties>
</file>