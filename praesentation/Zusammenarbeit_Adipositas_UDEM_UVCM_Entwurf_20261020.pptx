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4"/>
    <p:sldMasterId id="2147483801" r:id="rId5"/>
    <p:sldMasterId id="2147483749" r:id="rId6"/>
    <p:sldMasterId id="2147483754" r:id="rId7"/>
    <p:sldMasterId id="2147483766" r:id="rId8"/>
    <p:sldMasterId id="2147483763" r:id="rId9"/>
  </p:sldMasterIdLst>
  <p:notesMasterIdLst>
    <p:notesMasterId r:id="rId21"/>
  </p:notesMasterIdLst>
  <p:sldIdLst>
    <p:sldId id="397" r:id="rId10"/>
    <p:sldId id="481" r:id="rId11"/>
    <p:sldId id="483" r:id="rId12"/>
    <p:sldId id="482" r:id="rId13"/>
    <p:sldId id="476" r:id="rId14"/>
    <p:sldId id="479" r:id="rId15"/>
    <p:sldId id="484" r:id="rId16"/>
    <p:sldId id="475" r:id="rId17"/>
    <p:sldId id="485" r:id="rId26"/>
    <p:sldId id="486" r:id="rId27"/>
    <p:sldId id="480" r:id="rId19"/>
    <p:sldId id="421" r:id="rId20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6051"/>
    <a:srgbClr val="19C295"/>
    <a:srgbClr val="F8CF3B"/>
    <a:srgbClr val="D1E2BC"/>
    <a:srgbClr val="4A7094"/>
    <a:srgbClr val="E4DBCF"/>
    <a:srgbClr val="8C7482"/>
    <a:srgbClr val="F5EBEF"/>
    <a:srgbClr val="666F77"/>
    <a:srgbClr val="BFE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035" autoAdjust="0"/>
  </p:normalViewPr>
  <p:slideViewPr>
    <p:cSldViewPr snapToGrid="0" snapToObjects="1">
      <p:cViewPr varScale="1">
        <p:scale>
          <a:sx n="112" d="100"/>
          <a:sy n="112" d="100"/>
        </p:scale>
        <p:origin x="943" y="7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28" d="100"/>
          <a:sy n="128" d="100"/>
        </p:scale>
        <p:origin x="3152" y="16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2.xml"/><Relationship Id="rId2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BB809-BBEE-7448-9233-6973D63859EA}" type="datetimeFigureOut">
              <a:rPr lang="de-DE" smtClean="0"/>
              <a:t>20.10.2026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95C04-E291-F549-9F12-4CD1EACFC0C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819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95C04-E291-F549-9F12-4CD1EACFC0CB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5544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95C04-E291-F549-9F12-4CD1EACFC0CB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16464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95C04-E291-F549-9F12-4CD1EACFC0CB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74149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42EF577-F4D3-4B0A-8077-9E06A3990DAD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8DD5B98-E9F1-467E-8733-857DEE697479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BE8EEFA4-11A4-4408-B7D0-CBFCD64BF3DD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" name="Parallelogramm 23">
              <a:extLst>
                <a:ext uri="{FF2B5EF4-FFF2-40B4-BE49-F238E27FC236}">
                  <a16:creationId xmlns:a16="http://schemas.microsoft.com/office/drawing/2014/main" id="{74288184-4316-41CE-AE8A-B35FB0A4246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5" name="Parallelogramm 24">
              <a:extLst>
                <a:ext uri="{FF2B5EF4-FFF2-40B4-BE49-F238E27FC236}">
                  <a16:creationId xmlns:a16="http://schemas.microsoft.com/office/drawing/2014/main" id="{9B6814A7-8785-4B4B-9EA9-014C323CDF89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969100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75A22F8-0A71-4529-8960-FCF5CDDCF095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8B6365F-95C1-4FE9-9C40-4374CEDB805D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FF607E98-A967-47E8-AC93-F4B736B27BAF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Parallelogramm 16">
              <a:extLst>
                <a:ext uri="{FF2B5EF4-FFF2-40B4-BE49-F238E27FC236}">
                  <a16:creationId xmlns:a16="http://schemas.microsoft.com/office/drawing/2014/main" id="{EFCC955A-26ED-4CAE-951B-FFB8DC18BD4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9" name="Bildplatzhalter 2">
            <a:extLst>
              <a:ext uri="{FF2B5EF4-FFF2-40B4-BE49-F238E27FC236}">
                <a16:creationId xmlns:a16="http://schemas.microsoft.com/office/drawing/2014/main" id="{F7933CFC-4F5A-4A16-BEBD-7CBC4AD616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97258" y="2606487"/>
            <a:ext cx="5767307" cy="2538361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4895420"/>
              <a:gd name="connsiteY0" fmla="*/ 3891558 h 4033714"/>
              <a:gd name="connsiteX1" fmla="*/ 1123156 w 4895420"/>
              <a:gd name="connsiteY1" fmla="*/ 5425 h 4033714"/>
              <a:gd name="connsiteX2" fmla="*/ 4895420 w 4895420"/>
              <a:gd name="connsiteY2" fmla="*/ 0 h 4033714"/>
              <a:gd name="connsiteX3" fmla="*/ 3604338 w 4895420"/>
              <a:gd name="connsiteY3" fmla="*/ 4033714 h 4033714"/>
              <a:gd name="connsiteX4" fmla="*/ 0 w 4895420"/>
              <a:gd name="connsiteY4" fmla="*/ 3891558 h 4033714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768644 w 5059726"/>
              <a:gd name="connsiteY3" fmla="*/ 4033714 h 4039136"/>
              <a:gd name="connsiteX4" fmla="*/ 0 w 5059726"/>
              <a:gd name="connsiteY4" fmla="*/ 4039136 h 4039136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394788 w 5059726"/>
              <a:gd name="connsiteY3" fmla="*/ 3848296 h 4039136"/>
              <a:gd name="connsiteX4" fmla="*/ 0 w 5059726"/>
              <a:gd name="connsiteY4" fmla="*/ 4039136 h 4039136"/>
              <a:gd name="connsiteX0" fmla="*/ 0 w 5059726"/>
              <a:gd name="connsiteY0" fmla="*/ 4039136 h 4041281"/>
              <a:gd name="connsiteX1" fmla="*/ 1287462 w 5059726"/>
              <a:gd name="connsiteY1" fmla="*/ 5425 h 4041281"/>
              <a:gd name="connsiteX2" fmla="*/ 5059726 w 5059726"/>
              <a:gd name="connsiteY2" fmla="*/ 0 h 4041281"/>
              <a:gd name="connsiteX3" fmla="*/ 4485401 w 5059726"/>
              <a:gd name="connsiteY3" fmla="*/ 4041281 h 4041281"/>
              <a:gd name="connsiteX4" fmla="*/ 0 w 5059726"/>
              <a:gd name="connsiteY4" fmla="*/ 4039136 h 4041281"/>
              <a:gd name="connsiteX0" fmla="*/ 1277144 w 6336870"/>
              <a:gd name="connsiteY0" fmla="*/ 4039136 h 4041281"/>
              <a:gd name="connsiteX1" fmla="*/ 0 w 6336870"/>
              <a:gd name="connsiteY1" fmla="*/ 12994 h 4041281"/>
              <a:gd name="connsiteX2" fmla="*/ 6336870 w 6336870"/>
              <a:gd name="connsiteY2" fmla="*/ 0 h 4041281"/>
              <a:gd name="connsiteX3" fmla="*/ 5762545 w 6336870"/>
              <a:gd name="connsiteY3" fmla="*/ 4041281 h 4041281"/>
              <a:gd name="connsiteX4" fmla="*/ 1277144 w 6336870"/>
              <a:gd name="connsiteY4" fmla="*/ 4039136 h 4041281"/>
              <a:gd name="connsiteX0" fmla="*/ 1179512 w 6239238"/>
              <a:gd name="connsiteY0" fmla="*/ 4039136 h 4041281"/>
              <a:gd name="connsiteX1" fmla="*/ 0 w 6239238"/>
              <a:gd name="connsiteY1" fmla="*/ 65972 h 4041281"/>
              <a:gd name="connsiteX2" fmla="*/ 6239238 w 6239238"/>
              <a:gd name="connsiteY2" fmla="*/ 0 h 4041281"/>
              <a:gd name="connsiteX3" fmla="*/ 5664913 w 6239238"/>
              <a:gd name="connsiteY3" fmla="*/ 4041281 h 4041281"/>
              <a:gd name="connsiteX4" fmla="*/ 1179512 w 6239238"/>
              <a:gd name="connsiteY4" fmla="*/ 4039136 h 4041281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543788 w 5664913"/>
              <a:gd name="connsiteY2" fmla="*/ 210263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279469 w 5664913"/>
              <a:gd name="connsiteY2" fmla="*/ 28629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4031568 h 4033713"/>
              <a:gd name="connsiteX1" fmla="*/ 0 w 5664913"/>
              <a:gd name="connsiteY1" fmla="*/ 58404 h 4033713"/>
              <a:gd name="connsiteX2" fmla="*/ 4379481 w 5664913"/>
              <a:gd name="connsiteY2" fmla="*/ 0 h 4033713"/>
              <a:gd name="connsiteX3" fmla="*/ 5664913 w 5664913"/>
              <a:gd name="connsiteY3" fmla="*/ 4033713 h 4033713"/>
              <a:gd name="connsiteX4" fmla="*/ 1179512 w 5664913"/>
              <a:gd name="connsiteY4" fmla="*/ 4031568 h 4033713"/>
              <a:gd name="connsiteX0" fmla="*/ 1281906 w 5767307"/>
              <a:gd name="connsiteY0" fmla="*/ 4031568 h 4033713"/>
              <a:gd name="connsiteX1" fmla="*/ 0 w 5767307"/>
              <a:gd name="connsiteY1" fmla="*/ 1643 h 4033713"/>
              <a:gd name="connsiteX2" fmla="*/ 4481875 w 5767307"/>
              <a:gd name="connsiteY2" fmla="*/ 0 h 4033713"/>
              <a:gd name="connsiteX3" fmla="*/ 5767307 w 5767307"/>
              <a:gd name="connsiteY3" fmla="*/ 4033713 h 4033713"/>
              <a:gd name="connsiteX4" fmla="*/ 1281906 w 5767307"/>
              <a:gd name="connsiteY4" fmla="*/ 4031568 h 403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7307" h="4033713">
                <a:moveTo>
                  <a:pt x="1281906" y="4031568"/>
                </a:moveTo>
                <a:lnTo>
                  <a:pt x="0" y="1643"/>
                </a:lnTo>
                <a:lnTo>
                  <a:pt x="4481875" y="0"/>
                </a:lnTo>
                <a:lnTo>
                  <a:pt x="5767307" y="4033713"/>
                </a:lnTo>
                <a:lnTo>
                  <a:pt x="1281906" y="4031568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 algn="ctr">
              <a:defRPr lang="en-GB" sz="1200" dirty="0"/>
            </a:lvl1pPr>
          </a:lstStyle>
          <a:p>
            <a:pPr lvl="0" algn="ctr"/>
            <a:r>
              <a:rPr lang="de-DE"/>
              <a:t>Bild durch Klicken auf Symbol hinzufügen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77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569595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569595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FCBE3FA-6E51-4604-A8C1-F31B846E61BB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32B86DD8-50B3-4848-ABF9-6EEDF69AE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22884C1-8C9F-4CF3-8BF3-0FEEF20793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847D06EA-B3AC-400B-A5C0-A74EB21FA9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</p:grpSp>
    </p:spTree>
    <p:extLst>
      <p:ext uri="{BB962C8B-B14F-4D97-AF65-F5344CB8AC3E}">
        <p14:creationId xmlns:p14="http://schemas.microsoft.com/office/powerpoint/2010/main" val="834100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3246037" cy="9775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3509736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740779F-9D96-4E49-9A95-916D8689FD27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27E70A4B-63D8-4003-968B-B03A2A2398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DA167FA2-7604-41AA-80F3-F3CFBEABAA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0A37BB8-3844-483D-AA8A-059028517C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</p:grp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6591C452-DBD1-49E8-925F-DDB45E5691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13247" y="-2858"/>
            <a:ext cx="5015527" cy="5150675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137 h 4040572"/>
              <a:gd name="connsiteX1" fmla="*/ 1282700 w 5054964"/>
              <a:gd name="connsiteY1" fmla="*/ 5425 h 4040572"/>
              <a:gd name="connsiteX2" fmla="*/ 5054964 w 5054964"/>
              <a:gd name="connsiteY2" fmla="*/ 0 h 4040572"/>
              <a:gd name="connsiteX3" fmla="*/ 3926959 w 5054964"/>
              <a:gd name="connsiteY3" fmla="*/ 4040572 h 4040572"/>
              <a:gd name="connsiteX4" fmla="*/ 0 w 5054964"/>
              <a:gd name="connsiteY4" fmla="*/ 4039137 h 4040572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29871 w 5054964"/>
              <a:gd name="connsiteY3" fmla="*/ 4038286 h 4039137"/>
              <a:gd name="connsiteX4" fmla="*/ 0 w 5054964"/>
              <a:gd name="connsiteY4" fmla="*/ 4039137 h 4039137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47344 w 5054964"/>
              <a:gd name="connsiteY3" fmla="*/ 4038286 h 4039137"/>
              <a:gd name="connsiteX4" fmla="*/ 0 w 5054964"/>
              <a:gd name="connsiteY4" fmla="*/ 4039137 h 4039137"/>
              <a:gd name="connsiteX0" fmla="*/ 0 w 5060788"/>
              <a:gd name="connsiteY0" fmla="*/ 4041423 h 4041423"/>
              <a:gd name="connsiteX1" fmla="*/ 1288524 w 5060788"/>
              <a:gd name="connsiteY1" fmla="*/ 5425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5060788"/>
              <a:gd name="connsiteY0" fmla="*/ 4041423 h 4041423"/>
              <a:gd name="connsiteX1" fmla="*/ 2642651 w 5060788"/>
              <a:gd name="connsiteY1" fmla="*/ 853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4347323"/>
              <a:gd name="connsiteY0" fmla="*/ 4045995 h 4045995"/>
              <a:gd name="connsiteX1" fmla="*/ 2642651 w 4347323"/>
              <a:gd name="connsiteY1" fmla="*/ 5425 h 4045995"/>
              <a:gd name="connsiteX2" fmla="*/ 4347323 w 4347323"/>
              <a:gd name="connsiteY2" fmla="*/ 0 h 4045995"/>
              <a:gd name="connsiteX3" fmla="*/ 3953168 w 4347323"/>
              <a:gd name="connsiteY3" fmla="*/ 4042858 h 4045995"/>
              <a:gd name="connsiteX4" fmla="*/ 0 w 4347323"/>
              <a:gd name="connsiteY4" fmla="*/ 4045995 h 4045995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953168 w 3953168"/>
              <a:gd name="connsiteY3" fmla="*/ 4040572 h 4043709"/>
              <a:gd name="connsiteX4" fmla="*/ 0 w 3953168"/>
              <a:gd name="connsiteY4" fmla="*/ 4043709 h 4043709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611785 w 3953168"/>
              <a:gd name="connsiteY3" fmla="*/ 694979 h 4043709"/>
              <a:gd name="connsiteX4" fmla="*/ 3953168 w 3953168"/>
              <a:gd name="connsiteY4" fmla="*/ 4040572 h 4043709"/>
              <a:gd name="connsiteX5" fmla="*/ 0 w 3953168"/>
              <a:gd name="connsiteY5" fmla="*/ 4043709 h 4043709"/>
              <a:gd name="connsiteX0" fmla="*/ 0 w 4750417"/>
              <a:gd name="connsiteY0" fmla="*/ 4043709 h 4043709"/>
              <a:gd name="connsiteX1" fmla="*/ 2642651 w 4750417"/>
              <a:gd name="connsiteY1" fmla="*/ 3139 h 4043709"/>
              <a:gd name="connsiteX2" fmla="*/ 3537758 w 4750417"/>
              <a:gd name="connsiteY2" fmla="*/ 0 h 4043709"/>
              <a:gd name="connsiteX3" fmla="*/ 4750417 w 4750417"/>
              <a:gd name="connsiteY3" fmla="*/ 1924908 h 4043709"/>
              <a:gd name="connsiteX4" fmla="*/ 3953168 w 4750417"/>
              <a:gd name="connsiteY4" fmla="*/ 4040572 h 4043709"/>
              <a:gd name="connsiteX5" fmla="*/ 0 w 4750417"/>
              <a:gd name="connsiteY5" fmla="*/ 4043709 h 4043709"/>
              <a:gd name="connsiteX0" fmla="*/ 0 w 5015418"/>
              <a:gd name="connsiteY0" fmla="*/ 4043709 h 4043709"/>
              <a:gd name="connsiteX1" fmla="*/ 2642651 w 5015418"/>
              <a:gd name="connsiteY1" fmla="*/ 3139 h 4043709"/>
              <a:gd name="connsiteX2" fmla="*/ 3537758 w 5015418"/>
              <a:gd name="connsiteY2" fmla="*/ 0 h 4043709"/>
              <a:gd name="connsiteX3" fmla="*/ 5015418 w 5015418"/>
              <a:gd name="connsiteY3" fmla="*/ 2340981 h 4043709"/>
              <a:gd name="connsiteX4" fmla="*/ 3953168 w 5015418"/>
              <a:gd name="connsiteY4" fmla="*/ 4040572 h 4043709"/>
              <a:gd name="connsiteX5" fmla="*/ 0 w 5015418"/>
              <a:gd name="connsiteY5" fmla="*/ 4043709 h 4043709"/>
              <a:gd name="connsiteX0" fmla="*/ 0 w 5015418"/>
              <a:gd name="connsiteY0" fmla="*/ 4041423 h 4041423"/>
              <a:gd name="connsiteX1" fmla="*/ 2642651 w 5015418"/>
              <a:gd name="connsiteY1" fmla="*/ 853 h 4041423"/>
              <a:gd name="connsiteX2" fmla="*/ 3523197 w 5015418"/>
              <a:gd name="connsiteY2" fmla="*/ 0 h 4041423"/>
              <a:gd name="connsiteX3" fmla="*/ 5015418 w 5015418"/>
              <a:gd name="connsiteY3" fmla="*/ 2338695 h 4041423"/>
              <a:gd name="connsiteX4" fmla="*/ 3953168 w 5015418"/>
              <a:gd name="connsiteY4" fmla="*/ 4038286 h 4041423"/>
              <a:gd name="connsiteX5" fmla="*/ 0 w 5015418"/>
              <a:gd name="connsiteY5" fmla="*/ 4041423 h 4041423"/>
              <a:gd name="connsiteX0" fmla="*/ 0 w 4817395"/>
              <a:gd name="connsiteY0" fmla="*/ 4041423 h 4041423"/>
              <a:gd name="connsiteX1" fmla="*/ 2642651 w 4817395"/>
              <a:gd name="connsiteY1" fmla="*/ 853 h 4041423"/>
              <a:gd name="connsiteX2" fmla="*/ 3523197 w 4817395"/>
              <a:gd name="connsiteY2" fmla="*/ 0 h 4041423"/>
              <a:gd name="connsiteX3" fmla="*/ 4817395 w 4817395"/>
              <a:gd name="connsiteY3" fmla="*/ 2338695 h 4041423"/>
              <a:gd name="connsiteX4" fmla="*/ 3953168 w 4817395"/>
              <a:gd name="connsiteY4" fmla="*/ 4038286 h 4041423"/>
              <a:gd name="connsiteX5" fmla="*/ 0 w 4817395"/>
              <a:gd name="connsiteY5" fmla="*/ 4041423 h 4041423"/>
              <a:gd name="connsiteX0" fmla="*/ 0 w 5018330"/>
              <a:gd name="connsiteY0" fmla="*/ 4041423 h 4041423"/>
              <a:gd name="connsiteX1" fmla="*/ 2642651 w 5018330"/>
              <a:gd name="connsiteY1" fmla="*/ 853 h 4041423"/>
              <a:gd name="connsiteX2" fmla="*/ 3523197 w 5018330"/>
              <a:gd name="connsiteY2" fmla="*/ 0 h 4041423"/>
              <a:gd name="connsiteX3" fmla="*/ 5018330 w 5018330"/>
              <a:gd name="connsiteY3" fmla="*/ 2334123 h 4041423"/>
              <a:gd name="connsiteX4" fmla="*/ 3953168 w 5018330"/>
              <a:gd name="connsiteY4" fmla="*/ 4038286 h 4041423"/>
              <a:gd name="connsiteX5" fmla="*/ 0 w 5018330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3197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815680 w 5021242"/>
              <a:gd name="connsiteY4" fmla="*/ 3899162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29980 w 5021242"/>
              <a:gd name="connsiteY4" fmla="*/ 4040486 h 4041423"/>
              <a:gd name="connsiteX5" fmla="*/ 0 w 5021242"/>
              <a:gd name="connsiteY5" fmla="*/ 4041423 h 4041423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26151 w 5021242"/>
              <a:gd name="connsiteY2" fmla="*/ 79877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1421 h 4041421"/>
              <a:gd name="connsiteX1" fmla="*/ 2642651 w 5021242"/>
              <a:gd name="connsiteY1" fmla="*/ 851 h 4041421"/>
              <a:gd name="connsiteX2" fmla="*/ 3520448 w 5021242"/>
              <a:gd name="connsiteY2" fmla="*/ 0 h 4041421"/>
              <a:gd name="connsiteX3" fmla="*/ 5021242 w 5021242"/>
              <a:gd name="connsiteY3" fmla="*/ 2342667 h 4041421"/>
              <a:gd name="connsiteX4" fmla="*/ 3929980 w 5021242"/>
              <a:gd name="connsiteY4" fmla="*/ 4040484 h 4041421"/>
              <a:gd name="connsiteX5" fmla="*/ 0 w 5021242"/>
              <a:gd name="connsiteY5" fmla="*/ 4041421 h 4041421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40438 w 5021242"/>
              <a:gd name="connsiteY2" fmla="*/ 1395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3666 h 4043666"/>
              <a:gd name="connsiteX1" fmla="*/ 2642651 w 5021242"/>
              <a:gd name="connsiteY1" fmla="*/ 3096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5021242"/>
              <a:gd name="connsiteY0" fmla="*/ 4045061 h 4045061"/>
              <a:gd name="connsiteX1" fmla="*/ 2654081 w 5021242"/>
              <a:gd name="connsiteY1" fmla="*/ 0 h 4045061"/>
              <a:gd name="connsiteX2" fmla="*/ 3529020 w 5021242"/>
              <a:gd name="connsiteY2" fmla="*/ 1395 h 4045061"/>
              <a:gd name="connsiteX3" fmla="*/ 5021242 w 5021242"/>
              <a:gd name="connsiteY3" fmla="*/ 2346307 h 4045061"/>
              <a:gd name="connsiteX4" fmla="*/ 3929980 w 5021242"/>
              <a:gd name="connsiteY4" fmla="*/ 4044124 h 4045061"/>
              <a:gd name="connsiteX5" fmla="*/ 0 w 5021242"/>
              <a:gd name="connsiteY5" fmla="*/ 4045061 h 4045061"/>
              <a:gd name="connsiteX0" fmla="*/ 0 w 5021242"/>
              <a:gd name="connsiteY0" fmla="*/ 4043666 h 4043666"/>
              <a:gd name="connsiteX1" fmla="*/ 2654081 w 5021242"/>
              <a:gd name="connsiteY1" fmla="*/ 851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4884082"/>
              <a:gd name="connsiteY0" fmla="*/ 4043666 h 4043666"/>
              <a:gd name="connsiteX1" fmla="*/ 2654081 w 4884082"/>
              <a:gd name="connsiteY1" fmla="*/ 851 h 4043666"/>
              <a:gd name="connsiteX2" fmla="*/ 3529020 w 4884082"/>
              <a:gd name="connsiteY2" fmla="*/ 0 h 4043666"/>
              <a:gd name="connsiteX3" fmla="*/ 4884082 w 4884082"/>
              <a:gd name="connsiteY3" fmla="*/ 2342667 h 4043666"/>
              <a:gd name="connsiteX4" fmla="*/ 3929980 w 4884082"/>
              <a:gd name="connsiteY4" fmla="*/ 4042729 h 4043666"/>
              <a:gd name="connsiteX5" fmla="*/ 0 w 4884082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29980 w 5018385"/>
              <a:gd name="connsiteY4" fmla="*/ 4042729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787105 w 5018385"/>
              <a:gd name="connsiteY4" fmla="*/ 3959656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35695 w 5018385"/>
              <a:gd name="connsiteY4" fmla="*/ 4042729 h 4043666"/>
              <a:gd name="connsiteX5" fmla="*/ 0 w 5018385"/>
              <a:gd name="connsiteY5" fmla="*/ 4043666 h 4043666"/>
              <a:gd name="connsiteX0" fmla="*/ 0 w 4992667"/>
              <a:gd name="connsiteY0" fmla="*/ 4005497 h 4042729"/>
              <a:gd name="connsiteX1" fmla="*/ 2628363 w 4992667"/>
              <a:gd name="connsiteY1" fmla="*/ 851 h 4042729"/>
              <a:gd name="connsiteX2" fmla="*/ 3503302 w 4992667"/>
              <a:gd name="connsiteY2" fmla="*/ 0 h 4042729"/>
              <a:gd name="connsiteX3" fmla="*/ 4992667 w 4992667"/>
              <a:gd name="connsiteY3" fmla="*/ 2344912 h 4042729"/>
              <a:gd name="connsiteX4" fmla="*/ 3909977 w 4992667"/>
              <a:gd name="connsiteY4" fmla="*/ 4042729 h 4042729"/>
              <a:gd name="connsiteX5" fmla="*/ 0 w 4992667"/>
              <a:gd name="connsiteY5" fmla="*/ 4005497 h 4042729"/>
              <a:gd name="connsiteX0" fmla="*/ 0 w 5015527"/>
              <a:gd name="connsiteY0" fmla="*/ 4045911 h 4045911"/>
              <a:gd name="connsiteX1" fmla="*/ 2651223 w 5015527"/>
              <a:gd name="connsiteY1" fmla="*/ 851 h 4045911"/>
              <a:gd name="connsiteX2" fmla="*/ 3526162 w 5015527"/>
              <a:gd name="connsiteY2" fmla="*/ 0 h 4045911"/>
              <a:gd name="connsiteX3" fmla="*/ 5015527 w 5015527"/>
              <a:gd name="connsiteY3" fmla="*/ 2344912 h 4045911"/>
              <a:gd name="connsiteX4" fmla="*/ 3932837 w 5015527"/>
              <a:gd name="connsiteY4" fmla="*/ 4042729 h 4045911"/>
              <a:gd name="connsiteX5" fmla="*/ 0 w 5015527"/>
              <a:gd name="connsiteY5" fmla="*/ 4045911 h 4045911"/>
              <a:gd name="connsiteX0" fmla="*/ 0 w 5015527"/>
              <a:gd name="connsiteY0" fmla="*/ 4045911 h 4047058"/>
              <a:gd name="connsiteX1" fmla="*/ 2651223 w 5015527"/>
              <a:gd name="connsiteY1" fmla="*/ 851 h 4047058"/>
              <a:gd name="connsiteX2" fmla="*/ 3526162 w 5015527"/>
              <a:gd name="connsiteY2" fmla="*/ 0 h 4047058"/>
              <a:gd name="connsiteX3" fmla="*/ 5015527 w 5015527"/>
              <a:gd name="connsiteY3" fmla="*/ 2344912 h 4047058"/>
              <a:gd name="connsiteX4" fmla="*/ 3930083 w 5015527"/>
              <a:gd name="connsiteY4" fmla="*/ 4047058 h 4047058"/>
              <a:gd name="connsiteX5" fmla="*/ 0 w 5015527"/>
              <a:gd name="connsiteY5" fmla="*/ 4045911 h 4047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5527" h="4047058">
                <a:moveTo>
                  <a:pt x="0" y="4045911"/>
                </a:moveTo>
                <a:lnTo>
                  <a:pt x="2651223" y="851"/>
                </a:lnTo>
                <a:lnTo>
                  <a:pt x="3526162" y="0"/>
                </a:lnTo>
                <a:lnTo>
                  <a:pt x="5015527" y="2344912"/>
                </a:lnTo>
                <a:lnTo>
                  <a:pt x="3930083" y="4047058"/>
                </a:lnTo>
                <a:lnTo>
                  <a:pt x="0" y="4045911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>
              <a:defRPr lang="en-GB" sz="1200" dirty="0"/>
            </a:lvl1pPr>
          </a:lstStyle>
          <a:p>
            <a:pPr lvl="0" algn="ctr"/>
            <a:r>
              <a:rPr lang="de-DE"/>
              <a:t>Bild durch Klicken auf Symbol hinzufügen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17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Da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"/>
          <p:cNvSpPr>
            <a:spLocks noGrp="1"/>
          </p:cNvSpPr>
          <p:nvPr userDrawn="1">
            <p:ph idx="1"/>
          </p:nvPr>
        </p:nvSpPr>
        <p:spPr>
          <a:xfrm>
            <a:off x="537088" y="2203886"/>
            <a:ext cx="8058370" cy="1618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ts val="1200"/>
              </a:lnSpc>
              <a:defRPr sz="10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8673C2C9-9E24-45D3-9F6E-00D1E769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AC34E01-B86D-4E79-B903-69D57631908F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A70D063-63E3-43E9-943C-6A353929813F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D4017EB-B2A5-4D7A-8CBD-CC6EF0BE4BD1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Parallelogramm 14">
              <a:extLst>
                <a:ext uri="{FF2B5EF4-FFF2-40B4-BE49-F238E27FC236}">
                  <a16:creationId xmlns:a16="http://schemas.microsoft.com/office/drawing/2014/main" id="{FBC19C50-14C1-468C-8A9D-02D7A3C2DF00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Parallelogramm 15">
              <a:extLst>
                <a:ext uri="{FF2B5EF4-FFF2-40B4-BE49-F238E27FC236}">
                  <a16:creationId xmlns:a16="http://schemas.microsoft.com/office/drawing/2014/main" id="{8318208A-96C9-4F6C-8572-61552609AB5C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09523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42EF577-F4D3-4B0A-8077-9E06A3990DAD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8DD5B98-E9F1-467E-8733-857DEE697479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BE8EEFA4-11A4-4408-B7D0-CBFCD64BF3DD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Parallelogramm 23">
              <a:extLst>
                <a:ext uri="{FF2B5EF4-FFF2-40B4-BE49-F238E27FC236}">
                  <a16:creationId xmlns:a16="http://schemas.microsoft.com/office/drawing/2014/main" id="{74288184-4316-41CE-AE8A-B35FB0A4246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Parallelogramm 24">
              <a:extLst>
                <a:ext uri="{FF2B5EF4-FFF2-40B4-BE49-F238E27FC236}">
                  <a16:creationId xmlns:a16="http://schemas.microsoft.com/office/drawing/2014/main" id="{9B6814A7-8785-4B4B-9EA9-014C323CDF89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4821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75A22F8-0A71-4529-8960-FCF5CDDCF095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8B6365F-95C1-4FE9-9C40-4374CEDB805D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FF607E98-A967-47E8-AC93-F4B736B27BAF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Parallelogramm 16">
              <a:extLst>
                <a:ext uri="{FF2B5EF4-FFF2-40B4-BE49-F238E27FC236}">
                  <a16:creationId xmlns:a16="http://schemas.microsoft.com/office/drawing/2014/main" id="{EFCC955A-26ED-4CAE-951B-FFB8DC18BD4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Parallelogramm 17">
              <a:extLst>
                <a:ext uri="{FF2B5EF4-FFF2-40B4-BE49-F238E27FC236}">
                  <a16:creationId xmlns:a16="http://schemas.microsoft.com/office/drawing/2014/main" id="{81749E14-C3B3-4DE6-8926-F38CC2F2EA68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8C1736A2-7D21-473D-BD43-3BD952F9428E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2097258" y="2606487"/>
            <a:ext cx="5767307" cy="2538361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4895420"/>
              <a:gd name="connsiteY0" fmla="*/ 3891558 h 4033714"/>
              <a:gd name="connsiteX1" fmla="*/ 1123156 w 4895420"/>
              <a:gd name="connsiteY1" fmla="*/ 5425 h 4033714"/>
              <a:gd name="connsiteX2" fmla="*/ 4895420 w 4895420"/>
              <a:gd name="connsiteY2" fmla="*/ 0 h 4033714"/>
              <a:gd name="connsiteX3" fmla="*/ 3604338 w 4895420"/>
              <a:gd name="connsiteY3" fmla="*/ 4033714 h 4033714"/>
              <a:gd name="connsiteX4" fmla="*/ 0 w 4895420"/>
              <a:gd name="connsiteY4" fmla="*/ 3891558 h 4033714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768644 w 5059726"/>
              <a:gd name="connsiteY3" fmla="*/ 4033714 h 4039136"/>
              <a:gd name="connsiteX4" fmla="*/ 0 w 5059726"/>
              <a:gd name="connsiteY4" fmla="*/ 4039136 h 4039136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394788 w 5059726"/>
              <a:gd name="connsiteY3" fmla="*/ 3848296 h 4039136"/>
              <a:gd name="connsiteX4" fmla="*/ 0 w 5059726"/>
              <a:gd name="connsiteY4" fmla="*/ 4039136 h 4039136"/>
              <a:gd name="connsiteX0" fmla="*/ 0 w 5059726"/>
              <a:gd name="connsiteY0" fmla="*/ 4039136 h 4041281"/>
              <a:gd name="connsiteX1" fmla="*/ 1287462 w 5059726"/>
              <a:gd name="connsiteY1" fmla="*/ 5425 h 4041281"/>
              <a:gd name="connsiteX2" fmla="*/ 5059726 w 5059726"/>
              <a:gd name="connsiteY2" fmla="*/ 0 h 4041281"/>
              <a:gd name="connsiteX3" fmla="*/ 4485401 w 5059726"/>
              <a:gd name="connsiteY3" fmla="*/ 4041281 h 4041281"/>
              <a:gd name="connsiteX4" fmla="*/ 0 w 5059726"/>
              <a:gd name="connsiteY4" fmla="*/ 4039136 h 4041281"/>
              <a:gd name="connsiteX0" fmla="*/ 1277144 w 6336870"/>
              <a:gd name="connsiteY0" fmla="*/ 4039136 h 4041281"/>
              <a:gd name="connsiteX1" fmla="*/ 0 w 6336870"/>
              <a:gd name="connsiteY1" fmla="*/ 12994 h 4041281"/>
              <a:gd name="connsiteX2" fmla="*/ 6336870 w 6336870"/>
              <a:gd name="connsiteY2" fmla="*/ 0 h 4041281"/>
              <a:gd name="connsiteX3" fmla="*/ 5762545 w 6336870"/>
              <a:gd name="connsiteY3" fmla="*/ 4041281 h 4041281"/>
              <a:gd name="connsiteX4" fmla="*/ 1277144 w 6336870"/>
              <a:gd name="connsiteY4" fmla="*/ 4039136 h 4041281"/>
              <a:gd name="connsiteX0" fmla="*/ 1179512 w 6239238"/>
              <a:gd name="connsiteY0" fmla="*/ 4039136 h 4041281"/>
              <a:gd name="connsiteX1" fmla="*/ 0 w 6239238"/>
              <a:gd name="connsiteY1" fmla="*/ 65972 h 4041281"/>
              <a:gd name="connsiteX2" fmla="*/ 6239238 w 6239238"/>
              <a:gd name="connsiteY2" fmla="*/ 0 h 4041281"/>
              <a:gd name="connsiteX3" fmla="*/ 5664913 w 6239238"/>
              <a:gd name="connsiteY3" fmla="*/ 4041281 h 4041281"/>
              <a:gd name="connsiteX4" fmla="*/ 1179512 w 6239238"/>
              <a:gd name="connsiteY4" fmla="*/ 4039136 h 4041281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543788 w 5664913"/>
              <a:gd name="connsiteY2" fmla="*/ 210263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279469 w 5664913"/>
              <a:gd name="connsiteY2" fmla="*/ 28629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4031568 h 4033713"/>
              <a:gd name="connsiteX1" fmla="*/ 0 w 5664913"/>
              <a:gd name="connsiteY1" fmla="*/ 58404 h 4033713"/>
              <a:gd name="connsiteX2" fmla="*/ 4379481 w 5664913"/>
              <a:gd name="connsiteY2" fmla="*/ 0 h 4033713"/>
              <a:gd name="connsiteX3" fmla="*/ 5664913 w 5664913"/>
              <a:gd name="connsiteY3" fmla="*/ 4033713 h 4033713"/>
              <a:gd name="connsiteX4" fmla="*/ 1179512 w 5664913"/>
              <a:gd name="connsiteY4" fmla="*/ 4031568 h 4033713"/>
              <a:gd name="connsiteX0" fmla="*/ 1281906 w 5767307"/>
              <a:gd name="connsiteY0" fmla="*/ 4031568 h 4033713"/>
              <a:gd name="connsiteX1" fmla="*/ 0 w 5767307"/>
              <a:gd name="connsiteY1" fmla="*/ 1643 h 4033713"/>
              <a:gd name="connsiteX2" fmla="*/ 4481875 w 5767307"/>
              <a:gd name="connsiteY2" fmla="*/ 0 h 4033713"/>
              <a:gd name="connsiteX3" fmla="*/ 5767307 w 5767307"/>
              <a:gd name="connsiteY3" fmla="*/ 4033713 h 4033713"/>
              <a:gd name="connsiteX4" fmla="*/ 1281906 w 5767307"/>
              <a:gd name="connsiteY4" fmla="*/ 4031568 h 403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7307" h="4033713">
                <a:moveTo>
                  <a:pt x="1281906" y="4031568"/>
                </a:moveTo>
                <a:lnTo>
                  <a:pt x="0" y="1643"/>
                </a:lnTo>
                <a:lnTo>
                  <a:pt x="4481875" y="0"/>
                </a:lnTo>
                <a:lnTo>
                  <a:pt x="5767307" y="4033713"/>
                </a:lnTo>
                <a:lnTo>
                  <a:pt x="1281906" y="4031568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 algn="ctr">
              <a:defRPr lang="en-GB" sz="1200" dirty="0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402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569595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569595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20CF085D-7739-4B2B-ADA0-3EA7F2236B6C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DC09BA77-CA7A-430D-8338-3F5B0F6CB2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BC4CC3B-A641-457E-A176-66B0CDF628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146D11-993A-4297-A541-07127039B4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54021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3246037" cy="9775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3509736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6DF0C3F-007B-46B8-BA6C-21837725C60C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A763453B-85FC-406B-A622-60DF3DD481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BAE0242-799B-4BBA-8490-1F06555E9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BF54632-D304-402E-9979-93425653C7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6713D3E4-37C3-4882-B46F-B103EB7B5F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13247" y="-2858"/>
            <a:ext cx="5015527" cy="5150675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137 h 4040572"/>
              <a:gd name="connsiteX1" fmla="*/ 1282700 w 5054964"/>
              <a:gd name="connsiteY1" fmla="*/ 5425 h 4040572"/>
              <a:gd name="connsiteX2" fmla="*/ 5054964 w 5054964"/>
              <a:gd name="connsiteY2" fmla="*/ 0 h 4040572"/>
              <a:gd name="connsiteX3" fmla="*/ 3926959 w 5054964"/>
              <a:gd name="connsiteY3" fmla="*/ 4040572 h 4040572"/>
              <a:gd name="connsiteX4" fmla="*/ 0 w 5054964"/>
              <a:gd name="connsiteY4" fmla="*/ 4039137 h 4040572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29871 w 5054964"/>
              <a:gd name="connsiteY3" fmla="*/ 4038286 h 4039137"/>
              <a:gd name="connsiteX4" fmla="*/ 0 w 5054964"/>
              <a:gd name="connsiteY4" fmla="*/ 4039137 h 4039137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47344 w 5054964"/>
              <a:gd name="connsiteY3" fmla="*/ 4038286 h 4039137"/>
              <a:gd name="connsiteX4" fmla="*/ 0 w 5054964"/>
              <a:gd name="connsiteY4" fmla="*/ 4039137 h 4039137"/>
              <a:gd name="connsiteX0" fmla="*/ 0 w 5060788"/>
              <a:gd name="connsiteY0" fmla="*/ 4041423 h 4041423"/>
              <a:gd name="connsiteX1" fmla="*/ 1288524 w 5060788"/>
              <a:gd name="connsiteY1" fmla="*/ 5425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5060788"/>
              <a:gd name="connsiteY0" fmla="*/ 4041423 h 4041423"/>
              <a:gd name="connsiteX1" fmla="*/ 2642651 w 5060788"/>
              <a:gd name="connsiteY1" fmla="*/ 853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4347323"/>
              <a:gd name="connsiteY0" fmla="*/ 4045995 h 4045995"/>
              <a:gd name="connsiteX1" fmla="*/ 2642651 w 4347323"/>
              <a:gd name="connsiteY1" fmla="*/ 5425 h 4045995"/>
              <a:gd name="connsiteX2" fmla="*/ 4347323 w 4347323"/>
              <a:gd name="connsiteY2" fmla="*/ 0 h 4045995"/>
              <a:gd name="connsiteX3" fmla="*/ 3953168 w 4347323"/>
              <a:gd name="connsiteY3" fmla="*/ 4042858 h 4045995"/>
              <a:gd name="connsiteX4" fmla="*/ 0 w 4347323"/>
              <a:gd name="connsiteY4" fmla="*/ 4045995 h 4045995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953168 w 3953168"/>
              <a:gd name="connsiteY3" fmla="*/ 4040572 h 4043709"/>
              <a:gd name="connsiteX4" fmla="*/ 0 w 3953168"/>
              <a:gd name="connsiteY4" fmla="*/ 4043709 h 4043709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611785 w 3953168"/>
              <a:gd name="connsiteY3" fmla="*/ 694979 h 4043709"/>
              <a:gd name="connsiteX4" fmla="*/ 3953168 w 3953168"/>
              <a:gd name="connsiteY4" fmla="*/ 4040572 h 4043709"/>
              <a:gd name="connsiteX5" fmla="*/ 0 w 3953168"/>
              <a:gd name="connsiteY5" fmla="*/ 4043709 h 4043709"/>
              <a:gd name="connsiteX0" fmla="*/ 0 w 4750417"/>
              <a:gd name="connsiteY0" fmla="*/ 4043709 h 4043709"/>
              <a:gd name="connsiteX1" fmla="*/ 2642651 w 4750417"/>
              <a:gd name="connsiteY1" fmla="*/ 3139 h 4043709"/>
              <a:gd name="connsiteX2" fmla="*/ 3537758 w 4750417"/>
              <a:gd name="connsiteY2" fmla="*/ 0 h 4043709"/>
              <a:gd name="connsiteX3" fmla="*/ 4750417 w 4750417"/>
              <a:gd name="connsiteY3" fmla="*/ 1924908 h 4043709"/>
              <a:gd name="connsiteX4" fmla="*/ 3953168 w 4750417"/>
              <a:gd name="connsiteY4" fmla="*/ 4040572 h 4043709"/>
              <a:gd name="connsiteX5" fmla="*/ 0 w 4750417"/>
              <a:gd name="connsiteY5" fmla="*/ 4043709 h 4043709"/>
              <a:gd name="connsiteX0" fmla="*/ 0 w 5015418"/>
              <a:gd name="connsiteY0" fmla="*/ 4043709 h 4043709"/>
              <a:gd name="connsiteX1" fmla="*/ 2642651 w 5015418"/>
              <a:gd name="connsiteY1" fmla="*/ 3139 h 4043709"/>
              <a:gd name="connsiteX2" fmla="*/ 3537758 w 5015418"/>
              <a:gd name="connsiteY2" fmla="*/ 0 h 4043709"/>
              <a:gd name="connsiteX3" fmla="*/ 5015418 w 5015418"/>
              <a:gd name="connsiteY3" fmla="*/ 2340981 h 4043709"/>
              <a:gd name="connsiteX4" fmla="*/ 3953168 w 5015418"/>
              <a:gd name="connsiteY4" fmla="*/ 4040572 h 4043709"/>
              <a:gd name="connsiteX5" fmla="*/ 0 w 5015418"/>
              <a:gd name="connsiteY5" fmla="*/ 4043709 h 4043709"/>
              <a:gd name="connsiteX0" fmla="*/ 0 w 5015418"/>
              <a:gd name="connsiteY0" fmla="*/ 4041423 h 4041423"/>
              <a:gd name="connsiteX1" fmla="*/ 2642651 w 5015418"/>
              <a:gd name="connsiteY1" fmla="*/ 853 h 4041423"/>
              <a:gd name="connsiteX2" fmla="*/ 3523197 w 5015418"/>
              <a:gd name="connsiteY2" fmla="*/ 0 h 4041423"/>
              <a:gd name="connsiteX3" fmla="*/ 5015418 w 5015418"/>
              <a:gd name="connsiteY3" fmla="*/ 2338695 h 4041423"/>
              <a:gd name="connsiteX4" fmla="*/ 3953168 w 5015418"/>
              <a:gd name="connsiteY4" fmla="*/ 4038286 h 4041423"/>
              <a:gd name="connsiteX5" fmla="*/ 0 w 5015418"/>
              <a:gd name="connsiteY5" fmla="*/ 4041423 h 4041423"/>
              <a:gd name="connsiteX0" fmla="*/ 0 w 4817395"/>
              <a:gd name="connsiteY0" fmla="*/ 4041423 h 4041423"/>
              <a:gd name="connsiteX1" fmla="*/ 2642651 w 4817395"/>
              <a:gd name="connsiteY1" fmla="*/ 853 h 4041423"/>
              <a:gd name="connsiteX2" fmla="*/ 3523197 w 4817395"/>
              <a:gd name="connsiteY2" fmla="*/ 0 h 4041423"/>
              <a:gd name="connsiteX3" fmla="*/ 4817395 w 4817395"/>
              <a:gd name="connsiteY3" fmla="*/ 2338695 h 4041423"/>
              <a:gd name="connsiteX4" fmla="*/ 3953168 w 4817395"/>
              <a:gd name="connsiteY4" fmla="*/ 4038286 h 4041423"/>
              <a:gd name="connsiteX5" fmla="*/ 0 w 4817395"/>
              <a:gd name="connsiteY5" fmla="*/ 4041423 h 4041423"/>
              <a:gd name="connsiteX0" fmla="*/ 0 w 5018330"/>
              <a:gd name="connsiteY0" fmla="*/ 4041423 h 4041423"/>
              <a:gd name="connsiteX1" fmla="*/ 2642651 w 5018330"/>
              <a:gd name="connsiteY1" fmla="*/ 853 h 4041423"/>
              <a:gd name="connsiteX2" fmla="*/ 3523197 w 5018330"/>
              <a:gd name="connsiteY2" fmla="*/ 0 h 4041423"/>
              <a:gd name="connsiteX3" fmla="*/ 5018330 w 5018330"/>
              <a:gd name="connsiteY3" fmla="*/ 2334123 h 4041423"/>
              <a:gd name="connsiteX4" fmla="*/ 3953168 w 5018330"/>
              <a:gd name="connsiteY4" fmla="*/ 4038286 h 4041423"/>
              <a:gd name="connsiteX5" fmla="*/ 0 w 5018330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3197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815680 w 5021242"/>
              <a:gd name="connsiteY4" fmla="*/ 3899162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29980 w 5021242"/>
              <a:gd name="connsiteY4" fmla="*/ 4040486 h 4041423"/>
              <a:gd name="connsiteX5" fmla="*/ 0 w 5021242"/>
              <a:gd name="connsiteY5" fmla="*/ 4041423 h 4041423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26151 w 5021242"/>
              <a:gd name="connsiteY2" fmla="*/ 79877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1421 h 4041421"/>
              <a:gd name="connsiteX1" fmla="*/ 2642651 w 5021242"/>
              <a:gd name="connsiteY1" fmla="*/ 851 h 4041421"/>
              <a:gd name="connsiteX2" fmla="*/ 3520448 w 5021242"/>
              <a:gd name="connsiteY2" fmla="*/ 0 h 4041421"/>
              <a:gd name="connsiteX3" fmla="*/ 5021242 w 5021242"/>
              <a:gd name="connsiteY3" fmla="*/ 2342667 h 4041421"/>
              <a:gd name="connsiteX4" fmla="*/ 3929980 w 5021242"/>
              <a:gd name="connsiteY4" fmla="*/ 4040484 h 4041421"/>
              <a:gd name="connsiteX5" fmla="*/ 0 w 5021242"/>
              <a:gd name="connsiteY5" fmla="*/ 4041421 h 4041421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40438 w 5021242"/>
              <a:gd name="connsiteY2" fmla="*/ 1395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3666 h 4043666"/>
              <a:gd name="connsiteX1" fmla="*/ 2642651 w 5021242"/>
              <a:gd name="connsiteY1" fmla="*/ 3096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5021242"/>
              <a:gd name="connsiteY0" fmla="*/ 4045061 h 4045061"/>
              <a:gd name="connsiteX1" fmla="*/ 2654081 w 5021242"/>
              <a:gd name="connsiteY1" fmla="*/ 0 h 4045061"/>
              <a:gd name="connsiteX2" fmla="*/ 3529020 w 5021242"/>
              <a:gd name="connsiteY2" fmla="*/ 1395 h 4045061"/>
              <a:gd name="connsiteX3" fmla="*/ 5021242 w 5021242"/>
              <a:gd name="connsiteY3" fmla="*/ 2346307 h 4045061"/>
              <a:gd name="connsiteX4" fmla="*/ 3929980 w 5021242"/>
              <a:gd name="connsiteY4" fmla="*/ 4044124 h 4045061"/>
              <a:gd name="connsiteX5" fmla="*/ 0 w 5021242"/>
              <a:gd name="connsiteY5" fmla="*/ 4045061 h 4045061"/>
              <a:gd name="connsiteX0" fmla="*/ 0 w 5021242"/>
              <a:gd name="connsiteY0" fmla="*/ 4043666 h 4043666"/>
              <a:gd name="connsiteX1" fmla="*/ 2654081 w 5021242"/>
              <a:gd name="connsiteY1" fmla="*/ 851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4884082"/>
              <a:gd name="connsiteY0" fmla="*/ 4043666 h 4043666"/>
              <a:gd name="connsiteX1" fmla="*/ 2654081 w 4884082"/>
              <a:gd name="connsiteY1" fmla="*/ 851 h 4043666"/>
              <a:gd name="connsiteX2" fmla="*/ 3529020 w 4884082"/>
              <a:gd name="connsiteY2" fmla="*/ 0 h 4043666"/>
              <a:gd name="connsiteX3" fmla="*/ 4884082 w 4884082"/>
              <a:gd name="connsiteY3" fmla="*/ 2342667 h 4043666"/>
              <a:gd name="connsiteX4" fmla="*/ 3929980 w 4884082"/>
              <a:gd name="connsiteY4" fmla="*/ 4042729 h 4043666"/>
              <a:gd name="connsiteX5" fmla="*/ 0 w 4884082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29980 w 5018385"/>
              <a:gd name="connsiteY4" fmla="*/ 4042729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787105 w 5018385"/>
              <a:gd name="connsiteY4" fmla="*/ 3959656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35695 w 5018385"/>
              <a:gd name="connsiteY4" fmla="*/ 4042729 h 4043666"/>
              <a:gd name="connsiteX5" fmla="*/ 0 w 5018385"/>
              <a:gd name="connsiteY5" fmla="*/ 4043666 h 4043666"/>
              <a:gd name="connsiteX0" fmla="*/ 0 w 4992667"/>
              <a:gd name="connsiteY0" fmla="*/ 4005497 h 4042729"/>
              <a:gd name="connsiteX1" fmla="*/ 2628363 w 4992667"/>
              <a:gd name="connsiteY1" fmla="*/ 851 h 4042729"/>
              <a:gd name="connsiteX2" fmla="*/ 3503302 w 4992667"/>
              <a:gd name="connsiteY2" fmla="*/ 0 h 4042729"/>
              <a:gd name="connsiteX3" fmla="*/ 4992667 w 4992667"/>
              <a:gd name="connsiteY3" fmla="*/ 2344912 h 4042729"/>
              <a:gd name="connsiteX4" fmla="*/ 3909977 w 4992667"/>
              <a:gd name="connsiteY4" fmla="*/ 4042729 h 4042729"/>
              <a:gd name="connsiteX5" fmla="*/ 0 w 4992667"/>
              <a:gd name="connsiteY5" fmla="*/ 4005497 h 4042729"/>
              <a:gd name="connsiteX0" fmla="*/ 0 w 5015527"/>
              <a:gd name="connsiteY0" fmla="*/ 4045911 h 4045911"/>
              <a:gd name="connsiteX1" fmla="*/ 2651223 w 5015527"/>
              <a:gd name="connsiteY1" fmla="*/ 851 h 4045911"/>
              <a:gd name="connsiteX2" fmla="*/ 3526162 w 5015527"/>
              <a:gd name="connsiteY2" fmla="*/ 0 h 4045911"/>
              <a:gd name="connsiteX3" fmla="*/ 5015527 w 5015527"/>
              <a:gd name="connsiteY3" fmla="*/ 2344912 h 4045911"/>
              <a:gd name="connsiteX4" fmla="*/ 3932837 w 5015527"/>
              <a:gd name="connsiteY4" fmla="*/ 4042729 h 4045911"/>
              <a:gd name="connsiteX5" fmla="*/ 0 w 5015527"/>
              <a:gd name="connsiteY5" fmla="*/ 4045911 h 4045911"/>
              <a:gd name="connsiteX0" fmla="*/ 0 w 5015527"/>
              <a:gd name="connsiteY0" fmla="*/ 4045911 h 4047058"/>
              <a:gd name="connsiteX1" fmla="*/ 2651223 w 5015527"/>
              <a:gd name="connsiteY1" fmla="*/ 851 h 4047058"/>
              <a:gd name="connsiteX2" fmla="*/ 3526162 w 5015527"/>
              <a:gd name="connsiteY2" fmla="*/ 0 h 4047058"/>
              <a:gd name="connsiteX3" fmla="*/ 5015527 w 5015527"/>
              <a:gd name="connsiteY3" fmla="*/ 2344912 h 4047058"/>
              <a:gd name="connsiteX4" fmla="*/ 3930083 w 5015527"/>
              <a:gd name="connsiteY4" fmla="*/ 4047058 h 4047058"/>
              <a:gd name="connsiteX5" fmla="*/ 0 w 5015527"/>
              <a:gd name="connsiteY5" fmla="*/ 4045911 h 4047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5527" h="4047058">
                <a:moveTo>
                  <a:pt x="0" y="4045911"/>
                </a:moveTo>
                <a:lnTo>
                  <a:pt x="2651223" y="851"/>
                </a:lnTo>
                <a:lnTo>
                  <a:pt x="3526162" y="0"/>
                </a:lnTo>
                <a:lnTo>
                  <a:pt x="5015527" y="2344912"/>
                </a:lnTo>
                <a:lnTo>
                  <a:pt x="3930083" y="4047058"/>
                </a:lnTo>
                <a:lnTo>
                  <a:pt x="0" y="4045911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 algn="ctr">
              <a:defRPr lang="en-GB" sz="1200" dirty="0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270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Da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"/>
          <p:cNvSpPr>
            <a:spLocks noGrp="1"/>
          </p:cNvSpPr>
          <p:nvPr userDrawn="1">
            <p:ph idx="1"/>
          </p:nvPr>
        </p:nvSpPr>
        <p:spPr>
          <a:xfrm>
            <a:off x="537088" y="2203886"/>
            <a:ext cx="8058370" cy="1618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ts val="1200"/>
              </a:lnSpc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8673C2C9-9E24-45D3-9F6E-00D1E769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AC34E01-B86D-4E79-B903-69D57631908F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A70D063-63E3-43E9-943C-6A353929813F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D4017EB-B2A5-4D7A-8CBD-CC6EF0BE4BD1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5" name="Parallelogramm 14">
              <a:extLst>
                <a:ext uri="{FF2B5EF4-FFF2-40B4-BE49-F238E27FC236}">
                  <a16:creationId xmlns:a16="http://schemas.microsoft.com/office/drawing/2014/main" id="{FBC19C50-14C1-468C-8A9D-02D7A3C2DF00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Parallelogramm 15">
              <a:extLst>
                <a:ext uri="{FF2B5EF4-FFF2-40B4-BE49-F238E27FC236}">
                  <a16:creationId xmlns:a16="http://schemas.microsoft.com/office/drawing/2014/main" id="{8318208A-96C9-4F6C-8572-61552609AB5C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391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8069263" cy="3168650"/>
          </a:xfrm>
          <a:prstGeom prst="rect">
            <a:avLst/>
          </a:prstGeom>
        </p:spPr>
        <p:txBody>
          <a:bodyPr lIns="0" tIns="0" rIns="0" bIns="0"/>
          <a:lstStyle>
            <a:lvl1pPr marL="284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1pPr>
            <a:lvl3pPr marL="568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3pPr>
            <a:lvl4pPr marL="853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4pPr>
            <a:lvl5pPr marL="11376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5pPr>
            <a:lvl6pPr marL="14220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6pPr>
            <a:lvl7pPr marL="1706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7pPr>
            <a:lvl8pPr marL="1990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8pPr>
            <a:lvl9pPr marL="2275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  <a:p>
            <a:pPr lvl="8"/>
            <a:r>
              <a:rPr lang="de-DE" dirty="0"/>
              <a:t>Achte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7738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8069263" cy="2881313"/>
          </a:xfrm>
          <a:prstGeom prst="rect">
            <a:avLst/>
          </a:prstGeom>
        </p:spPr>
        <p:txBody>
          <a:bodyPr lIns="0" tIns="0" rIns="0" bIns="0"/>
          <a:lstStyle>
            <a:lvl1pPr marL="284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1pPr>
            <a:lvl3pPr marL="568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3pPr>
            <a:lvl4pPr marL="853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4pPr>
            <a:lvl5pPr marL="11376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5pPr>
            <a:lvl6pPr marL="14220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6pPr>
            <a:lvl7pPr marL="1706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7pPr>
            <a:lvl8pPr marL="1990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8pPr>
            <a:lvl9pPr marL="2275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7E2BEC9-DE17-49F6-A9DF-997F8B126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1"/>
            <a:ext cx="8064502" cy="618538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3208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51" y="1347788"/>
            <a:ext cx="3960813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347786"/>
            <a:ext cx="3960812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40DE734-A050-4998-B982-5BCCCE692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2661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48" y="1635124"/>
            <a:ext cx="3960813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635125"/>
            <a:ext cx="3960812" cy="2881312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9667F28-8F0E-45E9-9049-157BF7919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1149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7" name="Inhaltsplatzhalter 11"/>
          <p:cNvSpPr>
            <a:spLocks noGrp="1"/>
          </p:cNvSpPr>
          <p:nvPr>
            <p:ph sz="quarter" idx="17"/>
          </p:nvPr>
        </p:nvSpPr>
        <p:spPr>
          <a:xfrm>
            <a:off x="4643438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B4A430-EB2D-44A9-893B-275CFF0E3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E3893E4A-D4AE-426D-9362-E402BE3ED3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7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F8FE128-61D1-4D07-9602-FC50044871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8951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3E35F8A6-8588-4AF8-8B51-A80A5446AC1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4350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3338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>
          <p15:clr>
            <a:srgbClr val="A4A3A4"/>
          </p15:clr>
        </p15:guide>
        <p15:guide id="2" orient="horz" pos="1869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7"/>
          </p:nvPr>
        </p:nvSpPr>
        <p:spPr>
          <a:xfrm>
            <a:off x="4648838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1778350-B4FD-473A-92D2-B097255B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0854AF0-AC28-4DA3-A7DA-0BADE49415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8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D2BA8517-1E35-4DD3-BDBC-C5A9F63B8F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9750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E9F551E5-2121-4290-9B9F-E317FEDB567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9750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8655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3">
          <p15:clr>
            <a:srgbClr val="A4A3A4"/>
          </p15:clr>
        </p15:guide>
        <p15:guide id="2" orient="horz" pos="1915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B4A430-EB2D-44A9-893B-275CFF0E3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F8FE128-61D1-4D07-9602-FC50044871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8951" y="134778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3E35F8A6-8588-4AF8-8B51-A80A5446AC1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4350" y="298643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F0D8FBF-A07C-4866-9389-B4137901E10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91266" y="134778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79B65DD1-9D52-420C-AA23-0BCA4F6CBC9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96665" y="298643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2001BB61-9874-48F8-A34A-6F400FC3841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011872" y="134778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CD7D5465-DF3D-42F7-BAC6-FD3D33C123C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17650" y="298643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3243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>
          <p15:clr>
            <a:srgbClr val="A4A3A4"/>
          </p15:clr>
        </p15:guide>
        <p15:guide id="2" orient="horz" pos="1869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7"/>
          </p:nvPr>
        </p:nvSpPr>
        <p:spPr>
          <a:xfrm>
            <a:off x="6026149" y="163512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1778350-B4FD-473A-92D2-B097255B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0854AF0-AC28-4DA3-A7DA-0BADE49415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26149" y="312907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D2BA8517-1E35-4DD3-BDBC-C5A9F63B8F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9751" y="1635125"/>
            <a:ext cx="2592388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E9F551E5-2121-4290-9B9F-E317FEDB567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9750" y="3129075"/>
            <a:ext cx="2592389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B528CB7A-D7D9-468E-81A2-9CF75ED7227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90888" y="163512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A034FE27-32BF-4AC2-ABB1-F6000E7953C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90888" y="312907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1038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3">
          <p15:clr>
            <a:srgbClr val="A4A3A4"/>
          </p15:clr>
        </p15:guide>
        <p15:guide id="2" orient="horz" pos="1915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3960813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43438" y="1347788"/>
            <a:ext cx="3960812" cy="3168649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451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3960813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43438" y="1635125"/>
            <a:ext cx="3960812" cy="2881312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56143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2592387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8507" y="1347788"/>
            <a:ext cx="2592387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7263" y="1347788"/>
            <a:ext cx="2592387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4936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2592387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17263" y="1635125"/>
            <a:ext cx="2592387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2877" y="1635125"/>
            <a:ext cx="2592387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4089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1347788"/>
            <a:ext cx="8064500" cy="316865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853200">
              <a:defRPr>
                <a:latin typeface="+mn-lt"/>
              </a:defRPr>
            </a:lvl3pPr>
            <a:lvl4pPr marL="1137600">
              <a:defRPr>
                <a:latin typeface="+mn-lt"/>
              </a:defRPr>
            </a:lvl4pPr>
            <a:lvl5pPr marL="1422000">
              <a:defRPr>
                <a:latin typeface="+mn-lt"/>
              </a:defRPr>
            </a:lvl5pPr>
            <a:lvl6pPr marL="1706400">
              <a:defRPr>
                <a:latin typeface="+mn-lt"/>
              </a:defRPr>
            </a:lvl6pPr>
            <a:lvl7pPr marL="1990800">
              <a:defRPr>
                <a:latin typeface="+mn-lt"/>
              </a:defRPr>
            </a:lvl7pPr>
            <a:lvl8pPr marL="2275200">
              <a:defRPr>
                <a:latin typeface="+mn-lt"/>
              </a:defRPr>
            </a:lvl8pPr>
            <a:lvl9pPr marL="2559600">
              <a:defRPr baseline="0">
                <a:latin typeface="+mn-lt"/>
              </a:defRPr>
            </a:lvl9pPr>
          </a:lstStyle>
          <a:p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Titelplatzhalter 9">
            <a:extLst>
              <a:ext uri="{FF2B5EF4-FFF2-40B4-BE49-F238E27FC236}">
                <a16:creationId xmlns:a16="http://schemas.microsoft.com/office/drawing/2014/main" id="{1078F63C-E67D-447C-9587-11C304B9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467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658D9A-D362-4E60-8D9D-D3CCBCAC1E1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28D55B-F0F9-4553-A366-20529D5A0F7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DDFC55-CD46-43B8-BBB6-745DA8F8252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91038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1635125"/>
            <a:ext cx="8064500" cy="288131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853200">
              <a:defRPr>
                <a:latin typeface="+mn-lt"/>
              </a:defRPr>
            </a:lvl3pPr>
            <a:lvl4pPr marL="1137600">
              <a:defRPr>
                <a:latin typeface="+mn-lt"/>
              </a:defRPr>
            </a:lvl4pPr>
            <a:lvl5pPr marL="1422000">
              <a:defRPr>
                <a:latin typeface="+mn-lt"/>
              </a:defRPr>
            </a:lvl5pPr>
            <a:lvl6pPr marL="1706400">
              <a:defRPr>
                <a:latin typeface="+mn-lt"/>
              </a:defRPr>
            </a:lvl6pPr>
            <a:lvl7pPr marL="1990800">
              <a:defRPr>
                <a:latin typeface="+mn-lt"/>
              </a:defRPr>
            </a:lvl7pPr>
            <a:lvl8pPr marL="2275200">
              <a:defRPr>
                <a:latin typeface="+mn-lt"/>
              </a:defRPr>
            </a:lvl8pPr>
            <a:lvl9pPr marL="2559600">
              <a:defRPr baseline="0">
                <a:latin typeface="+mn-lt"/>
              </a:defRPr>
            </a:lvl9pPr>
          </a:lstStyle>
          <a:p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</p:txBody>
      </p:sp>
      <p:sp>
        <p:nvSpPr>
          <p:cNvPr id="8" name="Titelplatzhalter 9">
            <a:extLst>
              <a:ext uri="{FF2B5EF4-FFF2-40B4-BE49-F238E27FC236}">
                <a16:creationId xmlns:a16="http://schemas.microsoft.com/office/drawing/2014/main" id="{CA098561-4FE8-40A7-9C05-EBA73B8F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54362AD-DCA6-4691-8F60-5C3F6D9C7A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C569EC-8102-496F-9A59-602276FD5F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C7BA41-C6B5-4E40-B912-D7E3D397AE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32315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48" y="1347786"/>
            <a:ext cx="3960813" cy="3168652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347786"/>
            <a:ext cx="3960812" cy="3168652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40DE734-A050-4998-B982-5BCCCE692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9CDDBD1-2B5F-4590-B9C1-284DC232795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F72F00D-6964-42BD-93AC-CAD44499877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BF42BC-CBB9-41A4-BE48-83465225F07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8217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48" y="1635125"/>
            <a:ext cx="3960813" cy="2881313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635125"/>
            <a:ext cx="3960812" cy="2881313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9667F28-8F0E-45E9-9049-157BF7919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E8BCB2-59A7-43B5-9F67-BAF961FD360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D6CFA7A-72A0-4FEE-9BC5-8BC8EEB683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C316F5-00D7-47DB-A7E2-E9A1062AFEC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6285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9"/>
            <a:ext cx="3960813" cy="316865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50382" y="1347788"/>
            <a:ext cx="3960000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EAD4A3A8-78FD-40B0-89EE-0F158B94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70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C9983ED2-2F2C-46E9-A857-B72B4B91E8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3438" y="2986438"/>
            <a:ext cx="3960000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C3DEA4B-0DBE-4951-843B-C24B68FC75C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87510C-34B3-40A6-88C4-C03617CF0E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8D6E12-BDD7-4A92-84CE-368D6B816F5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29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 userDrawn="1">
          <p15:clr>
            <a:srgbClr val="A4A3A4"/>
          </p15:clr>
        </p15:guide>
        <p15:guide id="2" orient="horz" pos="1869" userDrawn="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3960813" cy="2881311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50382" y="1635124"/>
            <a:ext cx="3960000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itelplatzhalter 9">
            <a:extLst>
              <a:ext uri="{FF2B5EF4-FFF2-40B4-BE49-F238E27FC236}">
                <a16:creationId xmlns:a16="http://schemas.microsoft.com/office/drawing/2014/main" id="{CF0495AF-EDBE-4B30-8AFA-7F32F0EC6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91EBDE8B-B031-4CD1-A527-52009124C0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50382" y="3130436"/>
            <a:ext cx="3960000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154CF33-07F1-43EA-86C7-78EBCAF24D1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E4C78C-33D6-47EC-BE3F-76362EDC680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33DD5F-53A4-4342-866C-F9A4584BE66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486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5" userDrawn="1">
          <p15:clr>
            <a:srgbClr val="A4A3A4"/>
          </p15:clr>
        </p15:guide>
        <p15:guide id="2" orient="horz" pos="1983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4spaltig Bild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9"/>
            <a:ext cx="5327649" cy="316865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/>
          </p:nvPr>
        </p:nvSpPr>
        <p:spPr>
          <a:xfrm>
            <a:off x="6011862" y="1347788"/>
            <a:ext cx="2598519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EAD4A3A8-78FD-40B0-89EE-0F158B94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70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C9983ED2-2F2C-46E9-A857-B72B4B91E8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11862" y="2986438"/>
            <a:ext cx="2591576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7373529-F7A2-45A8-836D-809EBF13363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96CBC6-FA68-44FA-91C4-9C7479D150F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F4B4FB-3D17-4C33-BF59-A5C985ED258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6383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>
          <p15:clr>
            <a:srgbClr val="A4A3A4"/>
          </p15:clr>
        </p15:guide>
        <p15:guide id="2" orient="horz" pos="1869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4spaltig Bild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5327649" cy="2881311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6011862" y="1635124"/>
            <a:ext cx="2598519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itelplatzhalter 9">
            <a:extLst>
              <a:ext uri="{FF2B5EF4-FFF2-40B4-BE49-F238E27FC236}">
                <a16:creationId xmlns:a16="http://schemas.microsoft.com/office/drawing/2014/main" id="{CF0495AF-EDBE-4B30-8AFA-7F32F0EC6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91EBDE8B-B031-4CD1-A527-52009124C0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11862" y="3130436"/>
            <a:ext cx="2598519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75597BD-C3EF-4098-8380-1789F1B74E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1C4FF3-7085-4390-B304-41BBBEAC733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94AAF0-742E-4CD3-B5AB-BFF0DA4AC9A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584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5">
          <p15:clr>
            <a:srgbClr val="A4A3A4"/>
          </p15:clr>
        </p15:guide>
        <p15:guide id="2" orient="horz" pos="1983">
          <p15:clr>
            <a:srgbClr val="A4A3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45880" y="1347788"/>
            <a:ext cx="3960813" cy="2438777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347788"/>
            <a:ext cx="3960813" cy="2438778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0" name="Titelplatzhalter 9">
            <a:extLst>
              <a:ext uri="{FF2B5EF4-FFF2-40B4-BE49-F238E27FC236}">
                <a16:creationId xmlns:a16="http://schemas.microsoft.com/office/drawing/2014/main" id="{90292E58-B444-4B41-92F6-1EF6C24C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4"/>
            <a:ext cx="8064502" cy="345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816B3C4-5B86-40B1-9E66-9592F0482BD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EE57E07-FC83-45B1-972A-148628B64F0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671446F-3325-44B4-AAE8-F41371B15B4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6788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51" y="1635126"/>
            <a:ext cx="3960813" cy="2151442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635126"/>
            <a:ext cx="3960813" cy="215144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2356E8E2-A22E-4344-A615-BE1C7D09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24EE65-E726-45BF-B35A-20A1C90EF0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B559C8B-1516-466C-871E-FC16718A50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C72815D-657F-499B-A0FC-CD97FB5025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9097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nhaltsplatzhalter 11"/>
          <p:cNvSpPr>
            <a:spLocks noGrp="1"/>
          </p:cNvSpPr>
          <p:nvPr>
            <p:ph sz="quarter" idx="17"/>
          </p:nvPr>
        </p:nvSpPr>
        <p:spPr>
          <a:xfrm>
            <a:off x="4643438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B4A430-EB2D-44A9-893B-275CFF0E3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E3893E4A-D4AE-426D-9362-E402BE3ED3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7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F8FE128-61D1-4D07-9602-FC50044871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8951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3E35F8A6-8588-4AF8-8B51-A80A5446AC1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4350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EB69F8-F1B1-4A21-9EBE-0B3359338481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3FB787-8E90-4616-BFB8-81E4AA525C5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D5BB3F-911C-4C73-B1CE-73E27A76777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0055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 userDrawn="1">
          <p15:clr>
            <a:srgbClr val="A4A3A4"/>
          </p15:clr>
        </p15:guide>
        <p15:guide id="2" orient="horz" pos="1869" userDrawn="1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/>
          <p:cNvSpPr>
            <a:spLocks noGrp="1"/>
          </p:cNvSpPr>
          <p:nvPr>
            <p:ph sz="quarter" idx="17"/>
          </p:nvPr>
        </p:nvSpPr>
        <p:spPr>
          <a:xfrm>
            <a:off x="4648838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1778350-B4FD-473A-92D2-B097255B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0854AF0-AC28-4DA3-A7DA-0BADE49415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8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D2BA8517-1E35-4DD3-BDBC-C5A9F63B8F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9750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E9F551E5-2121-4290-9B9F-E317FEDB567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9750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EC1D86-1E03-464B-94BD-4B145BF765B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2BB1E0-BEF3-4332-BEB3-11F7A60388E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225666-4ECC-4838-AD31-73C4588B0D9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50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3" userDrawn="1">
          <p15:clr>
            <a:srgbClr val="A4A3A4"/>
          </p15:clr>
        </p15:guide>
        <p15:guide id="2" orient="horz" pos="1915" userDrawn="1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1spalt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539748" y="1347788"/>
            <a:ext cx="8064500" cy="316865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platzhalter 9">
            <a:extLst>
              <a:ext uri="{FF2B5EF4-FFF2-40B4-BE49-F238E27FC236}">
                <a16:creationId xmlns:a16="http://schemas.microsoft.com/office/drawing/2014/main" id="{EC5359AF-FB62-482D-9B05-953F313D1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467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95CFE1-438D-45FF-9241-3B89232677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693919-452E-4DAA-BE01-024CC2A327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48ED4A-E681-4314-A7D9-952F1C10EE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77232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1spalt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539748" y="1635125"/>
            <a:ext cx="8064500" cy="2881313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itelplatzhalter 9">
            <a:extLst>
              <a:ext uri="{FF2B5EF4-FFF2-40B4-BE49-F238E27FC236}">
                <a16:creationId xmlns:a16="http://schemas.microsoft.com/office/drawing/2014/main" id="{7FEE2481-B64C-48DE-96E9-60DFF5D24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94AC6D-6063-4A71-8EC4-D3854AEEC5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DC81B1-A44E-438D-80D1-FA9DB536E14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40B69EE-DA62-43D9-9E89-284A0063A9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137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3960813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347788"/>
            <a:ext cx="3960812" cy="3168649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3F74A82-11AA-476A-ABB8-AAC8F682FC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AB8F4A-29B3-4A57-A4DC-3E0B595F6E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F6A78B-B405-4530-8318-6B57187B973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6765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3960813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635125"/>
            <a:ext cx="3960812" cy="2881312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EB9195D-040A-43D5-ADAD-796FF742FA5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3ED8D8A-A177-41D3-8865-4E10897C0ED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898502-3D30-4F0A-9415-90766FF768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66592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8507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7263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51C505-4AC8-45E3-A7EA-8EB9EBD2C10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3003C7-355F-4823-B3B6-EF3FE330212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38668B-34A4-40E9-ACB6-DFDB5A0AD9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877192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1000"/>
              </a:spcBef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7263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1000"/>
              </a:spcBef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877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1000"/>
              </a:spcBef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22F657B-9177-4B97-B634-D922DB243F9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8C5C1DA-D9E6-46D2-BF2E-C50A93F09C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19B5684-6926-4C6A-A2D3-0AF9051FD8E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07012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2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8069899" cy="3168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1pPr>
            <a:lvl2pPr>
              <a:lnSpc>
                <a:spcPct val="90000"/>
              </a:lnSpc>
              <a:spcBef>
                <a:spcPts val="800"/>
              </a:spcBef>
              <a:defRPr sz="1200"/>
            </a:lvl2pPr>
            <a:lvl3pPr marL="5184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3pPr>
            <a:lvl4pPr marL="6912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4pPr>
            <a:lvl5pPr marL="8640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5pPr>
            <a:lvl6pPr marL="10368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6pPr>
            <a:lvl7pPr marL="12096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7pPr>
            <a:lvl8pPr marL="1382400" indent="-172800">
              <a:lnSpc>
                <a:spcPts val="1400"/>
              </a:lnSpc>
              <a:spcBef>
                <a:spcPts val="800"/>
              </a:spcBef>
              <a:defRPr sz="1200" baseline="0">
                <a:latin typeface="+mn-lt"/>
              </a:defRPr>
            </a:lvl8pPr>
            <a:lvl9pPr marL="15552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353306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51044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2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413FDDD-EA13-4443-B32C-E1883B2D2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609485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28912E3-7BB7-4686-92EE-D17A34165B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635125"/>
            <a:ext cx="8069263" cy="288131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lnSpc>
                <a:spcPts val="1400"/>
              </a:lnSpc>
              <a:defRPr/>
            </a:lvl8pPr>
            <a:lvl9pPr>
              <a:defRPr/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32764785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3960813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347788"/>
            <a:ext cx="3960812" cy="31686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94682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3960813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635125"/>
            <a:ext cx="3960812" cy="28813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92478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2592387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8507" y="1347788"/>
            <a:ext cx="2592387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7263" y="1347788"/>
            <a:ext cx="2592387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166437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2592387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7263" y="1635125"/>
            <a:ext cx="2592387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877" y="1635125"/>
            <a:ext cx="2592387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903699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45880" y="1347788"/>
            <a:ext cx="3960813" cy="2438777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347788"/>
            <a:ext cx="3960813" cy="2438778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0" name="Titelplatzhalter 9">
            <a:extLst>
              <a:ext uri="{FF2B5EF4-FFF2-40B4-BE49-F238E27FC236}">
                <a16:creationId xmlns:a16="http://schemas.microsoft.com/office/drawing/2014/main" id="{90292E58-B444-4B41-92F6-1EF6C24C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4"/>
            <a:ext cx="8064502" cy="345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7534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51" y="1635126"/>
            <a:ext cx="3960813" cy="2151442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635126"/>
            <a:ext cx="3960813" cy="2151440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2356E8E2-A22E-4344-A615-BE1C7D09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71258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1/1 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4373230"/>
            <a:ext cx="8064500" cy="2059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800"/>
              </a:spcBef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BECA2B6-A0FC-4D93-AA20-001A2E012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381660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32FFD0BC-CDB7-439A-8302-57046DB564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9750" y="1347788"/>
            <a:ext cx="8064500" cy="29527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2438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0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1/1 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4378653"/>
            <a:ext cx="8064500" cy="2059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30A110C-3D67-4101-87E4-F48D13C2A2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609485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CAED37D4-476A-423E-9BBF-CE21D475E3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9750" y="1635126"/>
            <a:ext cx="8064500" cy="2665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0721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0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8069899" cy="316865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1pPr>
            <a:lvl2pPr>
              <a:spcBef>
                <a:spcPts val="500"/>
              </a:spcBef>
              <a:defRPr/>
            </a:lvl2pPr>
            <a:lvl3pPr marL="518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3pPr>
            <a:lvl4pPr marL="691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4pPr>
            <a:lvl5pPr marL="8640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5pPr>
            <a:lvl6pPr marL="1036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6pPr>
            <a:lvl7pPr marL="12096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7pPr>
            <a:lvl8pPr marL="1382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8pPr>
            <a:lvl9pPr marL="1555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353306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77111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8069899" cy="2881313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1pPr>
            <a:lvl2pPr>
              <a:spcBef>
                <a:spcPts val="500"/>
              </a:spcBef>
              <a:defRPr/>
            </a:lvl2pPr>
            <a:lvl3pPr marL="518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3pPr>
            <a:lvl4pPr marL="691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4pPr>
            <a:lvl5pPr marL="8640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5pPr>
            <a:lvl6pPr marL="1036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6pPr>
            <a:lvl7pPr marL="12096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7pPr>
            <a:lvl8pPr marL="1382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8pPr>
            <a:lvl9pPr marL="1555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413FDDD-EA13-4443-B32C-E1883B2D2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609485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24200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3960813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347788"/>
            <a:ext cx="3960812" cy="3168649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6923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3960813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635125"/>
            <a:ext cx="3960812" cy="2881312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399889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8507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7263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51168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7263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877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885420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7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4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0.xml"/><Relationship Id="rId19" Type="http://schemas.openxmlformats.org/officeDocument/2006/relationships/theme" Target="../theme/theme4.xml"/><Relationship Id="rId20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theme" Target="../theme/theme5.xml"/><Relationship Id="rId12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theme" Target="../theme/theme6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36" y="197224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800" r:id="rId3"/>
    <p:sldLayoutId id="2147483799" r:id="rId4"/>
    <p:sldLayoutId id="2147483679" r:id="rId5"/>
  </p:sldLayoutIdLst>
  <p:hf hdr="0"/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3500" b="0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0" indent="0" algn="l" defTabSz="2880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2573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1717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3" userDrawn="1">
          <p15:clr>
            <a:srgbClr val="F26B43"/>
          </p15:clr>
        </p15:guide>
        <p15:guide id="3" orient="horz" pos="1461" userDrawn="1">
          <p15:clr>
            <a:srgbClr val="F26B43"/>
          </p15:clr>
        </p15:guide>
        <p15:guide id="4" orient="horz" pos="282" userDrawn="1">
          <p15:clr>
            <a:srgbClr val="F26B43"/>
          </p15:clr>
        </p15:guide>
        <p15:guide id="5" pos="340" userDrawn="1">
          <p15:clr>
            <a:srgbClr val="F26B43"/>
          </p15:clr>
        </p15:guide>
        <p15:guide id="6" orient="horz" pos="463" userDrawn="1">
          <p15:clr>
            <a:srgbClr val="F26B43"/>
          </p15:clr>
        </p15:guide>
        <p15:guide id="7" orient="horz" pos="962" userDrawn="1">
          <p15:clr>
            <a:srgbClr val="F26B43"/>
          </p15:clr>
        </p15:guide>
        <p15:guide id="9" pos="54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36" y="197224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4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</p:sldLayoutIdLst>
  <p:hf hdr="0"/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3500" b="0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0" indent="0" algn="l" defTabSz="2880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2573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1717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3">
          <p15:clr>
            <a:srgbClr val="F26B43"/>
          </p15:clr>
        </p15:guide>
        <p15:guide id="3" orient="horz" pos="1461">
          <p15:clr>
            <a:srgbClr val="F26B43"/>
          </p15:clr>
        </p15:guide>
        <p15:guide id="4" orient="horz" pos="282">
          <p15:clr>
            <a:srgbClr val="F26B43"/>
          </p15:clr>
        </p15:guide>
        <p15:guide id="5" pos="340">
          <p15:clr>
            <a:srgbClr val="F26B43"/>
          </p15:clr>
        </p15:guide>
        <p15:guide id="6" orient="horz" pos="463">
          <p15:clr>
            <a:srgbClr val="F26B43"/>
          </p15:clr>
        </p15:guide>
        <p15:guide id="7" orient="horz" pos="962">
          <p15:clr>
            <a:srgbClr val="F26B43"/>
          </p15:clr>
        </p15:guide>
        <p15:guide id="9" pos="542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 txBox="1">
            <a:spLocks/>
          </p:cNvSpPr>
          <p:nvPr userDrawn="1"/>
        </p:nvSpPr>
        <p:spPr>
          <a:xfrm>
            <a:off x="545880" y="1191497"/>
            <a:ext cx="7772400" cy="737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400"/>
              </a:lnSpc>
            </a:pPr>
            <a:endParaRPr lang="de-DE" sz="3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39748" y="735013"/>
            <a:ext cx="8064502" cy="6148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6241" y="4888800"/>
            <a:ext cx="5647288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84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idx="1"/>
          </p:nvPr>
        </p:nvSpPr>
        <p:spPr>
          <a:xfrm>
            <a:off x="539748" y="1635124"/>
            <a:ext cx="8064502" cy="28771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  <a:p>
            <a:pPr lvl="8"/>
            <a:r>
              <a:rPr lang="de-DE" dirty="0"/>
              <a:t>Achte Ebene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147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67" r:id="rId3"/>
    <p:sldLayoutId id="2147483768" r:id="rId4"/>
    <p:sldLayoutId id="2147483775" r:id="rId5"/>
    <p:sldLayoutId id="2147483776" r:id="rId6"/>
    <p:sldLayoutId id="2147483777" r:id="rId7"/>
    <p:sldLayoutId id="2147483778" r:id="rId8"/>
    <p:sldLayoutId id="2147483732" r:id="rId9"/>
    <p:sldLayoutId id="2147483733" r:id="rId10"/>
    <p:sldLayoutId id="2147483779" r:id="rId11"/>
    <p:sldLayoutId id="2147483780" r:id="rId12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2844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2844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5688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8532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11376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14220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064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9908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752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1030" userDrawn="1">
          <p15:clr>
            <a:srgbClr val="F26B43"/>
          </p15:clr>
        </p15:guide>
        <p15:guide id="7" orient="horz" pos="849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3696" userDrawn="1">
          <p15:clr>
            <a:srgbClr val="F26B43"/>
          </p15:clr>
        </p15:guide>
        <p15:guide id="12" pos="3787" userDrawn="1">
          <p15:clr>
            <a:srgbClr val="F26B43"/>
          </p15:clr>
        </p15:guide>
        <p15:guide id="13" pos="4558" userDrawn="1">
          <p15:clr>
            <a:srgbClr val="F26B43"/>
          </p15:clr>
        </p15:guide>
        <p15:guide id="14" pos="4649" userDrawn="1">
          <p15:clr>
            <a:srgbClr val="F26B43"/>
          </p15:clr>
        </p15:guide>
        <p15:guide id="15" pos="1111" userDrawn="1">
          <p15:clr>
            <a:srgbClr val="F26B43"/>
          </p15:clr>
        </p15:guide>
        <p15:guide id="16" pos="1202" userDrawn="1">
          <p15:clr>
            <a:srgbClr val="F26B43"/>
          </p15:clr>
        </p15:guide>
        <p15:guide id="17" pos="1973" userDrawn="1">
          <p15:clr>
            <a:srgbClr val="F26B43"/>
          </p15:clr>
        </p15:guide>
        <p15:guide id="18" pos="2073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3744" y="4888800"/>
            <a:ext cx="5581721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00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545880" y="1635124"/>
            <a:ext cx="8064502" cy="28813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E585E0A-E625-49EF-BE2B-9D8025621D23}"/>
              </a:ext>
            </a:extLst>
          </p:cNvPr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5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69" r:id="rId3"/>
    <p:sldLayoutId id="2147483770" r:id="rId4"/>
    <p:sldLayoutId id="2147483722" r:id="rId5"/>
    <p:sldLayoutId id="2147483723" r:id="rId6"/>
    <p:sldLayoutId id="2147483781" r:id="rId7"/>
    <p:sldLayoutId id="2147483782" r:id="rId8"/>
    <p:sldLayoutId id="2147483727" r:id="rId9"/>
    <p:sldLayoutId id="2147483726" r:id="rId10"/>
    <p:sldLayoutId id="2147483773" r:id="rId11"/>
    <p:sldLayoutId id="2147483774" r:id="rId12"/>
    <p:sldLayoutId id="2147483734" r:id="rId13"/>
    <p:sldLayoutId id="2147483735" r:id="rId14"/>
    <p:sldLayoutId id="2147483793" r:id="rId15"/>
    <p:sldLayoutId id="2147483794" r:id="rId16"/>
    <p:sldLayoutId id="2147483795" r:id="rId17"/>
    <p:sldLayoutId id="2147483796" r:id="rId18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2844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5688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8532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11376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14220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17064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908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752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5596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1030" userDrawn="1">
          <p15:clr>
            <a:srgbClr val="F26B43"/>
          </p15:clr>
        </p15:guide>
        <p15:guide id="7" orient="horz" pos="849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1111" userDrawn="1">
          <p15:clr>
            <a:srgbClr val="F26B43"/>
          </p15:clr>
        </p15:guide>
        <p15:guide id="12" pos="1202" userDrawn="1">
          <p15:clr>
            <a:srgbClr val="F26B43"/>
          </p15:clr>
        </p15:guide>
        <p15:guide id="13" pos="1973" userDrawn="1">
          <p15:clr>
            <a:srgbClr val="F26B43"/>
          </p15:clr>
        </p15:guide>
        <p15:guide id="14" pos="2073" userDrawn="1">
          <p15:clr>
            <a:srgbClr val="F26B43"/>
          </p15:clr>
        </p15:guide>
        <p15:guide id="15" pos="3696" userDrawn="1">
          <p15:clr>
            <a:srgbClr val="F26B43"/>
          </p15:clr>
        </p15:guide>
        <p15:guide id="16" pos="3787" userDrawn="1">
          <p15:clr>
            <a:srgbClr val="F26B43"/>
          </p15:clr>
        </p15:guide>
        <p15:guide id="17" pos="4558" userDrawn="1">
          <p15:clr>
            <a:srgbClr val="F26B43"/>
          </p15:clr>
        </p15:guide>
        <p15:guide id="18" pos="464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39748" y="735014"/>
            <a:ext cx="8064502" cy="6148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3744" y="4888800"/>
            <a:ext cx="5581721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00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33" name="Textplatzhalter 1">
            <a:extLst>
              <a:ext uri="{FF2B5EF4-FFF2-40B4-BE49-F238E27FC236}">
                <a16:creationId xmlns:a16="http://schemas.microsoft.com/office/drawing/2014/main" id="{B6D1D810-393C-4515-AAB2-0AD713BE6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48" y="1635125"/>
            <a:ext cx="8064502" cy="2881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01512F-4CFE-4BAF-A212-E97E0C88AD3E}"/>
              </a:ext>
            </a:extLst>
          </p:cNvPr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5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7" r:id="rId7"/>
    <p:sldLayoutId id="2147483798" r:id="rId8"/>
    <p:sldLayoutId id="2147483711" r:id="rId9"/>
    <p:sldLayoutId id="2147483719" r:id="rId10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198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96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2pPr>
      <a:lvl3pPr marL="594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792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990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188000" indent="-198000" algn="l" defTabSz="914400" rtl="0" eaLnBrk="1" latinLnBrk="0" hangingPunct="1">
        <a:lnSpc>
          <a:spcPts val="14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386000" indent="-1980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584000" indent="-1980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54000" indent="-1980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1030" userDrawn="1">
          <p15:clr>
            <a:srgbClr val="F26B43"/>
          </p15:clr>
        </p15:guide>
        <p15:guide id="7" orient="horz" pos="849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1111" userDrawn="1">
          <p15:clr>
            <a:srgbClr val="F26B43"/>
          </p15:clr>
        </p15:guide>
        <p15:guide id="12" pos="1202" userDrawn="1">
          <p15:clr>
            <a:srgbClr val="F26B43"/>
          </p15:clr>
        </p15:guide>
        <p15:guide id="13" pos="1973" userDrawn="1">
          <p15:clr>
            <a:srgbClr val="F26B43"/>
          </p15:clr>
        </p15:guide>
        <p15:guide id="14" pos="2073" userDrawn="1">
          <p15:clr>
            <a:srgbClr val="F26B43"/>
          </p15:clr>
        </p15:guide>
        <p15:guide id="15" pos="3696" userDrawn="1">
          <p15:clr>
            <a:srgbClr val="F26B43"/>
          </p15:clr>
        </p15:guide>
        <p15:guide id="16" pos="3787" userDrawn="1">
          <p15:clr>
            <a:srgbClr val="F26B43"/>
          </p15:clr>
        </p15:guide>
        <p15:guide id="17" pos="4558" userDrawn="1">
          <p15:clr>
            <a:srgbClr val="F26B43"/>
          </p15:clr>
        </p15:guide>
        <p15:guide id="18" pos="4649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39748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3744" y="4888800"/>
            <a:ext cx="5581721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00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539748" y="1635125"/>
            <a:ext cx="8064502" cy="2881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386F8C9-4864-4E81-9BE8-0D2DB59548C9}"/>
              </a:ext>
            </a:extLst>
          </p:cNvPr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66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83" r:id="rId3"/>
    <p:sldLayoutId id="2147483784" r:id="rId4"/>
    <p:sldLayoutId id="2147483785" r:id="rId5"/>
    <p:sldLayoutId id="2147483786" r:id="rId6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1728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456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2pPr>
      <a:lvl3pPr marL="5184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6912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8640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10368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096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3824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849" userDrawn="1">
          <p15:clr>
            <a:srgbClr val="F26B43"/>
          </p15:clr>
        </p15:guide>
        <p15:guide id="7" orient="horz" pos="1030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1111" userDrawn="1">
          <p15:clr>
            <a:srgbClr val="F26B43"/>
          </p15:clr>
        </p15:guide>
        <p15:guide id="12" pos="1202" userDrawn="1">
          <p15:clr>
            <a:srgbClr val="F26B43"/>
          </p15:clr>
        </p15:guide>
        <p15:guide id="13" pos="1973" userDrawn="1">
          <p15:clr>
            <a:srgbClr val="F26B43"/>
          </p15:clr>
        </p15:guide>
        <p15:guide id="14" pos="2073" userDrawn="1">
          <p15:clr>
            <a:srgbClr val="F26B43"/>
          </p15:clr>
        </p15:guide>
        <p15:guide id="15" pos="3696" userDrawn="1">
          <p15:clr>
            <a:srgbClr val="F26B43"/>
          </p15:clr>
        </p15:guide>
        <p15:guide id="16" pos="3787" userDrawn="1">
          <p15:clr>
            <a:srgbClr val="F26B43"/>
          </p15:clr>
        </p15:guide>
        <p15:guide id="17" pos="4558" userDrawn="1">
          <p15:clr>
            <a:srgbClr val="F26B43"/>
          </p15:clr>
        </p15:guide>
        <p15:guide id="18" pos="464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26A9685-67C0-4A82-8CB8-BA2CDDC55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99" y="1028349"/>
            <a:ext cx="8515040" cy="779709"/>
          </a:xfrm>
        </p:spPr>
        <p:txBody>
          <a:bodyPr/>
          <a:lstStyle/>
          <a:p>
            <a:r>
              <a:rPr lang="de-CH" dirty="0"/>
              <a:t>Zusammenarbeit Adipositasbereich UDEM &amp; UVCM</a:t>
            </a:r>
            <a:br>
              <a:rPr lang="de-CH" dirty="0"/>
            </a:br>
            <a:r>
              <a:rPr lang="de-CH" sz="2800" dirty="0"/>
              <a:t>Gemeinsamer Auftritt und klare Zuweisungswege</a:t>
            </a:r>
            <a:br>
              <a:rPr lang="de-CH" dirty="0"/>
            </a:br>
            <a:br>
              <a:rPr lang="de-CH" dirty="0"/>
            </a:br>
            <a:br>
              <a:rPr lang="de-CH" sz="1200" dirty="0"/>
            </a:br>
            <a:endParaRPr lang="de-CH" sz="1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29C8DE-0969-45D3-3607-767F521DFE17}"/>
              </a:ext>
            </a:extLst>
          </p:cNvPr>
          <p:cNvSpPr txBox="1"/>
          <p:nvPr/>
        </p:nvSpPr>
        <p:spPr>
          <a:xfrm>
            <a:off x="376199" y="2062075"/>
            <a:ext cx="6139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400" dirty="0"/>
              <a:t>27.10.2026 – Prof. Dr. med. Christoph Stettler, Klinikdirektor UDEM</a:t>
            </a:r>
          </a:p>
        </p:txBody>
      </p:sp>
      <p:sp>
        <p:nvSpPr>
          <p:cNvPr id="7" name="Entwurf"/>
          <p:cNvSpPr/>
          <p:nvPr/>
        </p:nvSpPr>
        <p:spPr>
          <a:xfrm>
            <a:off x="7360920" y="320040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>
                <a:solidFill>
                  <a:srgbClr val="EE8F7A"/>
                </a:solidFill>
              </a:rPr>
              <a:t>ENTWURF</a:t>
            </a:r>
          </a:p>
        </p:txBody>
      </p:sp>
    </p:spTree>
    <p:extLst>
      <p:ext uri="{BB962C8B-B14F-4D97-AF65-F5344CB8AC3E}">
        <p14:creationId xmlns:p14="http://schemas.microsoft.com/office/powerpoint/2010/main" val="310943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Einordnung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 err="1">
                <a:solidFill>
                  <a:srgbClr val="171C1B"/>
                </a:solidFill>
              </a:rPr>
              <a:t>Adipositas-Sprechstunde an der UDEM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180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 dirty="0" err="1">
                <a:solidFill>
                  <a:srgbClr val="677078"/>
                </a:solidFill>
              </a:rPr>
              <a:t>Strukturierter Behandlungspfad – über 1’000 Kontakte pro Monat</a:t>
            </a:r>
            <a:endParaRPr sz="1170" b="0" i="0" dirty="0">
              <a:solidFill>
                <a:srgbClr val="677078"/>
              </a:solidFill>
            </a:endParaRP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627632"/>
            <a:ext cx="8046720" cy="86868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1627632"/>
            <a:ext cx="8046720" cy="457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1764792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1C1B"/>
                </a:solidFill>
              </a:rPr>
              <a:t>≈ 300</a:t>
            </a:r>
            <a:r>
              <a:rPr sz="1000" b="0" i="0">
                <a:solidFill>
                  <a:srgbClr val="677078"/>
                </a:solidFill>
              </a:rPr>
              <a:t> / Monat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395728" y="2048256"/>
            <a:ext cx="146304" cy="109728"/>
          </a:xfrm>
          <a:prstGeom prst="line">
            <a:avLst/>
          </a:prstGeom>
          <a:ln w="1905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96896" y="2029968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9670"/>
                </a:solidFill>
              </a:rPr>
              <a:t>Tendenz steigend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1828800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1C1B"/>
                </a:solidFill>
              </a:rPr>
              <a:t>Ärztliche Konsultationen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2103120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77078"/>
                </a:solidFill>
              </a:rPr>
              <a:t>Erstkonsultationen und Jahreskontrollen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74320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BEHANDLUNGSPFAD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79" y="3017520"/>
            <a:ext cx="1463040" cy="658368"/>
          </a:xfrm>
          <a:prstGeom prst="roundRect">
            <a:avLst>
              <a:gd name="adj" fmla="val 12000"/>
            </a:avLst>
          </a:prstGeom>
          <a:solidFill>
            <a:srgbClr val="FCF1ED"/>
          </a:solidFill>
          <a:ln w="1270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171C1B"/>
                </a:solidFill>
              </a:rPr>
              <a:t>Assessment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79" y="3017520"/>
            <a:ext cx="1463040" cy="658368"/>
          </a:xfrm>
          <a:prstGeom prst="roundRect">
            <a:avLst>
              <a:gd name="adj" fmla="val 12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</a:rPr>
              <a:t>Erstkonsultation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ärztlich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96896" y="3346703"/>
            <a:ext cx="292607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754879" y="3017520"/>
            <a:ext cx="14630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7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171C1B"/>
                </a:solidFill>
              </a:rPr>
              <a:t>Verlaufskontrollen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25695" y="3346703"/>
            <a:ext cx="292608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83679" y="3017520"/>
            <a:ext cx="1463040" cy="658368"/>
          </a:xfrm>
          <a:prstGeom prst="roundRect">
            <a:avLst>
              <a:gd name="adj" fmla="val 12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</a:rPr>
              <a:t>Jahreskontrolle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ärztlich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54495" y="3346703"/>
            <a:ext cx="292608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97279" y="3776472"/>
            <a:ext cx="3291841" cy="0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97279" y="3831335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77078"/>
                </a:solidFill>
              </a:rPr>
              <a:t>Einstieg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15199" y="3675887"/>
            <a:ext cx="0" cy="210313"/>
          </a:xfrm>
          <a:prstGeom prst="line">
            <a:avLst/>
          </a:prstGeom>
          <a:ln w="1587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486399" y="3886200"/>
            <a:ext cx="1828800" cy="0"/>
          </a:xfrm>
          <a:prstGeom prst="line">
            <a:avLst/>
          </a:prstGeom>
          <a:ln w="1587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486399" y="3685031"/>
            <a:ext cx="0" cy="201169"/>
          </a:xfrm>
          <a:prstGeom prst="line">
            <a:avLst/>
          </a:prstGeom>
          <a:ln w="1587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846319" y="3941063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9670"/>
                </a:solidFill>
              </a:rPr>
              <a:t>jährlich wiederkehrend bis Behandlungsschluss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Qualitätssicherung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Qualitätssicherung an der UDEM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Zertifizierungen und Real-World-Daten der UDEM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64592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ZERTIFIZIERUNGEN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874519"/>
            <a:ext cx="3840480" cy="932688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11680"/>
            <a:ext cx="1691640" cy="346017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2578608" y="2011680"/>
            <a:ext cx="0" cy="658368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15768" y="2011680"/>
            <a:ext cx="1600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EASO COMs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77078"/>
                </a:solidFill>
              </a:rPr>
              <a:t>Zertifiziert durch die European Association for the Study of Obesity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898648"/>
            <a:ext cx="3840480" cy="71323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3008376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Swiss Medical Obesity Center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77078"/>
                </a:solidFill>
              </a:rPr>
              <a:t>Anerkennung als medizinisches Adipositaszentrum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164592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 dirty="0">
                <a:solidFill>
                  <a:srgbClr val="009670"/>
                </a:solidFill>
              </a:rPr>
              <a:t>QUALITÄTSSICHERUNG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3794760"/>
            <a:ext cx="36576" cy="45720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37947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71C1B"/>
                </a:solidFill>
              </a:rPr>
              <a:t>Zertifizierte Qualität und eigene Forschung als Basis für den gemeinsamen Auftritt.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852971BB-6411-5B24-3714-1E41A6CB18F2}"/>
              </a:ext>
            </a:extLst>
          </p:cNvPr>
          <p:cNvSpPr/>
          <p:nvPr/>
        </p:nvSpPr>
        <p:spPr>
          <a:xfrm>
            <a:off x="4690946" y="1461795"/>
            <a:ext cx="3918704" cy="2150085"/>
          </a:xfrm>
          <a:prstGeom prst="rect">
            <a:avLst/>
          </a:prstGeom>
          <a:noFill/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29">
            <a:extLst>
              <a:ext uri="{FF2B5EF4-FFF2-40B4-BE49-F238E27FC236}">
                <a16:creationId xmlns:a16="http://schemas.microsoft.com/office/drawing/2014/main" id="{2D793858-C38A-41FD-8004-0260F9135A35}"/>
              </a:ext>
            </a:extLst>
          </p:cNvPr>
          <p:cNvSpPr txBox="1"/>
          <p:nvPr/>
        </p:nvSpPr>
        <p:spPr>
          <a:xfrm>
            <a:off x="4933762" y="1958061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 i="0">
                <a:solidFill>
                  <a:srgbClr val="171C1B"/>
                </a:solidFill>
              </a:rPr>
              <a:t>Swiss Obesity Study (SOS)</a:t>
            </a:r>
          </a:p>
        </p:txBody>
      </p:sp>
      <p:sp>
        <p:nvSpPr>
          <p:cNvPr id="7" name="TextBox 31">
            <a:extLst>
              <a:ext uri="{FF2B5EF4-FFF2-40B4-BE49-F238E27FC236}">
                <a16:creationId xmlns:a16="http://schemas.microsoft.com/office/drawing/2014/main" id="{EAD5D6BC-1EBA-7B00-21FF-2137458A1D90}"/>
              </a:ext>
            </a:extLst>
          </p:cNvPr>
          <p:cNvSpPr txBox="1"/>
          <p:nvPr/>
        </p:nvSpPr>
        <p:spPr>
          <a:xfrm>
            <a:off x="4933762" y="223313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 i="0" dirty="0" err="1">
                <a:solidFill>
                  <a:srgbClr val="677078"/>
                </a:solidFill>
              </a:rPr>
              <a:t>Longitudinale</a:t>
            </a:r>
            <a:r>
              <a:rPr sz="850" b="0" i="0" dirty="0">
                <a:solidFill>
                  <a:srgbClr val="677078"/>
                </a:solidFill>
              </a:rPr>
              <a:t> Real-World-</a:t>
            </a:r>
            <a:r>
              <a:rPr sz="850" b="0" i="0" dirty="0" err="1">
                <a:solidFill>
                  <a:srgbClr val="677078"/>
                </a:solidFill>
              </a:rPr>
              <a:t>Daten</a:t>
            </a:r>
            <a:r>
              <a:rPr sz="850" b="0" i="0" dirty="0">
                <a:solidFill>
                  <a:srgbClr val="677078"/>
                </a:solidFill>
              </a:rPr>
              <a:t> </a:t>
            </a:r>
            <a:r>
              <a:rPr sz="850" b="0" i="0" dirty="0" err="1">
                <a:solidFill>
                  <a:srgbClr val="677078"/>
                </a:solidFill>
              </a:rPr>
              <a:t>zur</a:t>
            </a:r>
            <a:r>
              <a:rPr sz="850" b="0" i="0" dirty="0">
                <a:solidFill>
                  <a:srgbClr val="677078"/>
                </a:solidFill>
              </a:rPr>
              <a:t> </a:t>
            </a:r>
            <a:r>
              <a:rPr sz="850" b="0" i="0" dirty="0" err="1">
                <a:solidFill>
                  <a:srgbClr val="677078"/>
                </a:solidFill>
              </a:rPr>
              <a:t>Adipositasversorgung</a:t>
            </a:r>
            <a:r>
              <a:rPr sz="850" b="0" i="0" dirty="0">
                <a:solidFill>
                  <a:srgbClr val="677078"/>
                </a:solidFill>
              </a:rPr>
              <a:t> in der Schweiz</a:t>
            </a:r>
          </a:p>
        </p:txBody>
      </p:sp>
      <p:sp>
        <p:nvSpPr>
          <p:cNvPr id="8" name="TextBox 32">
            <a:extLst>
              <a:ext uri="{FF2B5EF4-FFF2-40B4-BE49-F238E27FC236}">
                <a16:creationId xmlns:a16="http://schemas.microsoft.com/office/drawing/2014/main" id="{AEF798BE-B039-49F2-1C02-1B070045B697}"/>
              </a:ext>
            </a:extLst>
          </p:cNvPr>
          <p:cNvSpPr txBox="1"/>
          <p:nvPr/>
        </p:nvSpPr>
        <p:spPr>
          <a:xfrm>
            <a:off x="4933762" y="251053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>
                <a:solidFill>
                  <a:srgbClr val="171C1B"/>
                </a:solidFill>
              </a:rPr>
              <a:t>≈ 2'500</a:t>
            </a:r>
          </a:p>
        </p:txBody>
      </p:sp>
      <p:sp>
        <p:nvSpPr>
          <p:cNvPr id="9" name="TextBox 33">
            <a:extLst>
              <a:ext uri="{FF2B5EF4-FFF2-40B4-BE49-F238E27FC236}">
                <a16:creationId xmlns:a16="http://schemas.microsoft.com/office/drawing/2014/main" id="{AC59C8DD-5E8B-FAB2-4EA6-2DB4406EE753}"/>
              </a:ext>
            </a:extLst>
          </p:cNvPr>
          <p:cNvSpPr txBox="1"/>
          <p:nvPr/>
        </p:nvSpPr>
        <p:spPr>
          <a:xfrm>
            <a:off x="4933762" y="278485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 i="0" dirty="0" err="1">
                <a:solidFill>
                  <a:srgbClr val="677078"/>
                </a:solidFill>
              </a:rPr>
              <a:t>Teilnehmende</a:t>
            </a:r>
            <a:r>
              <a:rPr sz="850" b="0" i="0" dirty="0">
                <a:solidFill>
                  <a:srgbClr val="677078"/>
                </a:solidFill>
              </a:rPr>
              <a:t> </a:t>
            </a:r>
            <a:r>
              <a:rPr sz="850" b="0" i="0" dirty="0" err="1">
                <a:solidFill>
                  <a:srgbClr val="677078"/>
                </a:solidFill>
              </a:rPr>
              <a:t>seit</a:t>
            </a:r>
            <a:r>
              <a:rPr sz="850" b="0" i="0" dirty="0">
                <a:solidFill>
                  <a:srgbClr val="677078"/>
                </a:solidFill>
              </a:rPr>
              <a:t> 2025</a:t>
            </a:r>
          </a:p>
        </p:txBody>
      </p:sp>
      <p:sp>
        <p:nvSpPr>
          <p:cNvPr id="10" name="TextBox 34">
            <a:extLst>
              <a:ext uri="{FF2B5EF4-FFF2-40B4-BE49-F238E27FC236}">
                <a16:creationId xmlns:a16="http://schemas.microsoft.com/office/drawing/2014/main" id="{BD2F69AA-001C-5719-CB94-AE5856B1D191}"/>
              </a:ext>
            </a:extLst>
          </p:cNvPr>
          <p:cNvSpPr txBox="1"/>
          <p:nvPr/>
        </p:nvSpPr>
        <p:spPr>
          <a:xfrm>
            <a:off x="6689410" y="251053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>
                <a:solidFill>
                  <a:srgbClr val="171C1B"/>
                </a:solidFill>
              </a:rPr>
              <a:t>10 Jahre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81D15E45-762C-8259-50CC-A086D6926A59}"/>
              </a:ext>
            </a:extLst>
          </p:cNvPr>
          <p:cNvSpPr txBox="1"/>
          <p:nvPr/>
        </p:nvSpPr>
        <p:spPr>
          <a:xfrm>
            <a:off x="6689410" y="278485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 i="0">
                <a:solidFill>
                  <a:srgbClr val="677078"/>
                </a:solidFill>
              </a:rPr>
              <a:t>Follow-up</a:t>
            </a:r>
          </a:p>
        </p:txBody>
      </p:sp>
      <p:cxnSp>
        <p:nvCxnSpPr>
          <p:cNvPr id="12" name="Connector 36">
            <a:extLst>
              <a:ext uri="{FF2B5EF4-FFF2-40B4-BE49-F238E27FC236}">
                <a16:creationId xmlns:a16="http://schemas.microsoft.com/office/drawing/2014/main" id="{1D7B9837-7169-A5BE-CE1C-F50EBF4A9148}"/>
              </a:ext>
            </a:extLst>
          </p:cNvPr>
          <p:cNvCxnSpPr/>
          <p:nvPr/>
        </p:nvCxnSpPr>
        <p:spPr>
          <a:xfrm>
            <a:off x="6552250" y="2547106"/>
            <a:ext cx="0" cy="384048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37">
            <a:extLst>
              <a:ext uri="{FF2B5EF4-FFF2-40B4-BE49-F238E27FC236}">
                <a16:creationId xmlns:a16="http://schemas.microsoft.com/office/drawing/2014/main" id="{C57825D4-033C-7115-AB77-C16C6B6498AC}"/>
              </a:ext>
            </a:extLst>
          </p:cNvPr>
          <p:cNvSpPr txBox="1"/>
          <p:nvPr/>
        </p:nvSpPr>
        <p:spPr>
          <a:xfrm>
            <a:off x="4933762" y="305917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 dirty="0" err="1">
                <a:solidFill>
                  <a:srgbClr val="171C1B"/>
                </a:solidFill>
              </a:rPr>
              <a:t>Ziel</a:t>
            </a:r>
            <a:r>
              <a:rPr sz="900" b="1" i="0" dirty="0">
                <a:solidFill>
                  <a:srgbClr val="171C1B"/>
                </a:solidFill>
              </a:rPr>
              <a:t>: </a:t>
            </a:r>
            <a:r>
              <a:rPr sz="900" b="0" i="0" dirty="0" err="1">
                <a:solidFill>
                  <a:srgbClr val="171C1B"/>
                </a:solidFill>
              </a:rPr>
              <a:t>Auswirkungen</a:t>
            </a:r>
            <a:r>
              <a:rPr sz="900" b="0" i="0" dirty="0">
                <a:solidFill>
                  <a:srgbClr val="171C1B"/>
                </a:solidFill>
              </a:rPr>
              <a:t> der </a:t>
            </a:r>
            <a:r>
              <a:rPr sz="900" b="0" i="0" dirty="0" err="1">
                <a:solidFill>
                  <a:srgbClr val="171C1B"/>
                </a:solidFill>
              </a:rPr>
              <a:t>sich</a:t>
            </a:r>
            <a:r>
              <a:rPr sz="900" b="0" i="0" dirty="0">
                <a:solidFill>
                  <a:srgbClr val="171C1B"/>
                </a:solidFill>
              </a:rPr>
              <a:t> </a:t>
            </a:r>
            <a:r>
              <a:rPr sz="900" b="0" i="0" dirty="0" err="1">
                <a:solidFill>
                  <a:srgbClr val="171C1B"/>
                </a:solidFill>
              </a:rPr>
              <a:t>wandelnden</a:t>
            </a:r>
            <a:r>
              <a:rPr sz="900" b="0" i="0" dirty="0">
                <a:solidFill>
                  <a:srgbClr val="171C1B"/>
                </a:solidFill>
              </a:rPr>
              <a:t> </a:t>
            </a:r>
            <a:r>
              <a:rPr sz="900" b="0" i="0" dirty="0" err="1">
                <a:solidFill>
                  <a:srgbClr val="171C1B"/>
                </a:solidFill>
              </a:rPr>
              <a:t>Adipositastherapie</a:t>
            </a:r>
            <a:r>
              <a:rPr sz="900" b="0" i="0" dirty="0">
                <a:solidFill>
                  <a:srgbClr val="171C1B"/>
                </a:solidFill>
              </a:rPr>
              <a:t> auf </a:t>
            </a:r>
            <a:r>
              <a:rPr sz="900" b="0" i="0" dirty="0" err="1">
                <a:solidFill>
                  <a:srgbClr val="171C1B"/>
                </a:solidFill>
              </a:rPr>
              <a:t>Gesundheitsoutcomes</a:t>
            </a:r>
            <a:r>
              <a:rPr sz="900" b="0" i="0" dirty="0">
                <a:solidFill>
                  <a:srgbClr val="171C1B"/>
                </a:solidFill>
              </a:rPr>
              <a:t> und </a:t>
            </a:r>
            <a:r>
              <a:rPr sz="900" b="0" i="0" dirty="0" err="1">
                <a:solidFill>
                  <a:srgbClr val="171C1B"/>
                </a:solidFill>
              </a:rPr>
              <a:t>Lebensstil</a:t>
            </a:r>
            <a:r>
              <a:rPr sz="900" b="0" i="0" dirty="0">
                <a:solidFill>
                  <a:srgbClr val="171C1B"/>
                </a:solidFill>
              </a:rPr>
              <a:t> </a:t>
            </a:r>
            <a:r>
              <a:rPr sz="900" b="0" i="0" dirty="0" err="1">
                <a:solidFill>
                  <a:srgbClr val="171C1B"/>
                </a:solidFill>
              </a:rPr>
              <a:t>evaluieren</a:t>
            </a:r>
            <a:endParaRPr sz="900" b="0" i="0" dirty="0">
              <a:solidFill>
                <a:srgbClr val="171C1B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CEEE8D-3A20-6160-CDA7-C136126AD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744" y="1515128"/>
            <a:ext cx="849888" cy="60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Einordnung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 err="1">
                <a:solidFill>
                  <a:srgbClr val="171C1B"/>
                </a:solidFill>
              </a:rPr>
              <a:t>Adipositas-Sprechstunden</a:t>
            </a:r>
            <a:r>
              <a:rPr sz="2150" b="1" i="0" dirty="0">
                <a:solidFill>
                  <a:srgbClr val="171C1B"/>
                </a:solidFill>
              </a:rPr>
              <a:t> </a:t>
            </a:r>
            <a:r>
              <a:rPr lang="de-CH" sz="2150" b="1" i="0" dirty="0">
                <a:solidFill>
                  <a:srgbClr val="171C1B"/>
                </a:solidFill>
              </a:rPr>
              <a:t>am Inselspital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Ärztliche Termine mit Adipositas pro Monat – UDEM und Viszerale Chirurgie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645920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ÄRZTLICHE TERMINE PRO MONAT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01168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UDEM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194560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Erstkonsultationen und Jahreskontrollen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1993392"/>
            <a:ext cx="2414016" cy="38404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93776" y="2063941"/>
            <a:ext cx="99554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71C1B"/>
                </a:solidFill>
              </a:rPr>
              <a:t>≈ 300</a:t>
            </a:r>
            <a:r>
              <a:rPr lang="de-CH" sz="1500" b="1" dirty="0">
                <a:solidFill>
                  <a:srgbClr val="171C1B"/>
                </a:solidFill>
              </a:rPr>
              <a:t> + 50</a:t>
            </a:r>
            <a:endParaRPr sz="1500" b="1" i="0" dirty="0">
              <a:solidFill>
                <a:srgbClr val="171C1B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2752344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Viszerale Chirurgie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93522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UVCM · Besuchsgrund Adipositas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2734056"/>
            <a:ext cx="1046073" cy="38404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86353" y="27889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≈ 130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148840" y="1920240"/>
            <a:ext cx="0" cy="1188720"/>
          </a:xfrm>
          <a:prstGeom prst="line">
            <a:avLst/>
          </a:prstGeom>
          <a:ln w="12700">
            <a:solidFill>
              <a:srgbClr val="67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48640" y="3639312"/>
            <a:ext cx="8046720" cy="5029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640" y="3639312"/>
            <a:ext cx="36576" cy="5029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3794592"/>
            <a:ext cx="77724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 dirty="0" err="1">
                <a:solidFill>
                  <a:srgbClr val="171C1B"/>
                </a:solidFill>
              </a:rPr>
              <a:t>Zusammen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rund</a:t>
            </a:r>
            <a:r>
              <a:rPr sz="1250" b="0" i="0" dirty="0">
                <a:solidFill>
                  <a:srgbClr val="171C1B"/>
                </a:solidFill>
              </a:rPr>
              <a:t> 4</a:t>
            </a:r>
            <a:r>
              <a:rPr lang="de-CH" sz="1250" b="0" i="0" dirty="0">
                <a:solidFill>
                  <a:srgbClr val="171C1B"/>
                </a:solidFill>
              </a:rPr>
              <a:t>8</a:t>
            </a:r>
            <a:r>
              <a:rPr sz="1250" b="0" i="0" dirty="0">
                <a:solidFill>
                  <a:srgbClr val="171C1B"/>
                </a:solidFill>
              </a:rPr>
              <a:t>0 </a:t>
            </a:r>
            <a:r>
              <a:rPr sz="1250" b="0" i="0" dirty="0" err="1">
                <a:solidFill>
                  <a:srgbClr val="171C1B"/>
                </a:solidFill>
              </a:rPr>
              <a:t>ärztliche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Adipositas-Termine</a:t>
            </a:r>
            <a:r>
              <a:rPr sz="1250" b="0" i="0" dirty="0">
                <a:solidFill>
                  <a:srgbClr val="171C1B"/>
                </a:solidFill>
              </a:rPr>
              <a:t> pro Monat</a:t>
            </a:r>
            <a:r>
              <a:rPr lang="de-CH" sz="1250" b="0" i="0" dirty="0">
                <a:solidFill>
                  <a:srgbClr val="171C1B"/>
                </a:solidFill>
              </a:rPr>
              <a:t>: </a:t>
            </a:r>
            <a:r>
              <a:rPr sz="1250" b="0" i="0" dirty="0" err="1">
                <a:solidFill>
                  <a:srgbClr val="171C1B"/>
                </a:solidFill>
              </a:rPr>
              <a:t>ein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abgestimmter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Pfad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nützt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beiden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Kliniken</a:t>
            </a:r>
            <a:r>
              <a:rPr sz="1250" b="0" i="0" dirty="0">
                <a:solidFill>
                  <a:srgbClr val="171C1B"/>
                </a:solidFill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690" y="4542412"/>
            <a:ext cx="804672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 err="1">
                <a:solidFill>
                  <a:srgbClr val="677078"/>
                </a:solidFill>
              </a:rPr>
              <a:t>Viszerale</a:t>
            </a:r>
            <a:r>
              <a:rPr sz="800" b="0" i="0" dirty="0">
                <a:solidFill>
                  <a:srgbClr val="677078"/>
                </a:solidFill>
              </a:rPr>
              <a:t> </a:t>
            </a:r>
            <a:r>
              <a:rPr sz="800" b="0" i="0" dirty="0" err="1">
                <a:solidFill>
                  <a:srgbClr val="677078"/>
                </a:solidFill>
              </a:rPr>
              <a:t>Chirurgie</a:t>
            </a:r>
            <a:r>
              <a:rPr sz="800" b="0" i="0" dirty="0">
                <a:solidFill>
                  <a:srgbClr val="677078"/>
                </a:solidFill>
              </a:rPr>
              <a:t>: </a:t>
            </a:r>
            <a:r>
              <a:rPr sz="800" b="0" i="0" dirty="0" err="1">
                <a:solidFill>
                  <a:srgbClr val="677078"/>
                </a:solidFill>
              </a:rPr>
              <a:t>ärztliche</a:t>
            </a:r>
            <a:r>
              <a:rPr sz="800" b="0" i="0" dirty="0">
                <a:solidFill>
                  <a:srgbClr val="677078"/>
                </a:solidFill>
              </a:rPr>
              <a:t> </a:t>
            </a:r>
            <a:r>
              <a:rPr sz="800" b="0" i="0" dirty="0" err="1">
                <a:solidFill>
                  <a:srgbClr val="677078"/>
                </a:solidFill>
              </a:rPr>
              <a:t>Termine</a:t>
            </a:r>
            <a:r>
              <a:rPr sz="800" b="0" i="0" dirty="0">
                <a:solidFill>
                  <a:srgbClr val="677078"/>
                </a:solidFill>
              </a:rPr>
              <a:t> </a:t>
            </a:r>
            <a:r>
              <a:rPr sz="800" b="0" i="0" dirty="0" err="1">
                <a:solidFill>
                  <a:srgbClr val="677078"/>
                </a:solidFill>
              </a:rPr>
              <a:t>mit</a:t>
            </a:r>
            <a:r>
              <a:rPr sz="800" b="0" i="0" dirty="0">
                <a:solidFill>
                  <a:srgbClr val="677078"/>
                </a:solidFill>
              </a:rPr>
              <a:t> </a:t>
            </a:r>
            <a:r>
              <a:rPr sz="800" b="0" i="0" dirty="0" err="1">
                <a:solidFill>
                  <a:srgbClr val="677078"/>
                </a:solidFill>
              </a:rPr>
              <a:t>Besuchsgrund</a:t>
            </a:r>
            <a:r>
              <a:rPr sz="800" b="0" i="0" dirty="0">
                <a:solidFill>
                  <a:srgbClr val="677078"/>
                </a:solidFill>
              </a:rPr>
              <a:t> «</a:t>
            </a:r>
            <a:r>
              <a:rPr sz="800" b="0" i="0" dirty="0" err="1">
                <a:solidFill>
                  <a:srgbClr val="677078"/>
                </a:solidFill>
              </a:rPr>
              <a:t>Adipositas</a:t>
            </a:r>
            <a:r>
              <a:rPr sz="800" b="0" i="0" dirty="0">
                <a:solidFill>
                  <a:srgbClr val="677078"/>
                </a:solidFill>
              </a:rPr>
              <a:t>», </a:t>
            </a:r>
            <a:r>
              <a:rPr sz="800" b="0" i="0" dirty="0" err="1">
                <a:solidFill>
                  <a:srgbClr val="677078"/>
                </a:solidFill>
              </a:rPr>
              <a:t>Monatsdurchschnitt</a:t>
            </a:r>
            <a:r>
              <a:rPr sz="800" b="0" i="0" dirty="0">
                <a:solidFill>
                  <a:srgbClr val="677078"/>
                </a:solidFill>
              </a:rPr>
              <a:t> 1.4.–1.10.2026. 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D70B5829-837F-02C9-9FD8-FEF232C81D52}"/>
              </a:ext>
            </a:extLst>
          </p:cNvPr>
          <p:cNvSpPr/>
          <p:nvPr/>
        </p:nvSpPr>
        <p:spPr>
          <a:xfrm>
            <a:off x="4586050" y="1993392"/>
            <a:ext cx="356615" cy="384048"/>
          </a:xfrm>
          <a:prstGeom prst="rect">
            <a:avLst/>
          </a:prstGeom>
          <a:pattFill prst="wdUpDiag">
            <a:fgClr>
              <a:srgbClr val="009670"/>
            </a:fgClr>
            <a:bgClr>
              <a:srgbClr val="FFFFFF"/>
            </a:bgClr>
          </a:patt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32">
            <a:extLst>
              <a:ext uri="{FF2B5EF4-FFF2-40B4-BE49-F238E27FC236}">
                <a16:creationId xmlns:a16="http://schemas.microsoft.com/office/drawing/2014/main" id="{BB8504C1-3838-99B9-8513-1FFD0A41ED15}"/>
              </a:ext>
            </a:extLst>
          </p:cNvPr>
          <p:cNvCxnSpPr/>
          <p:nvPr/>
        </p:nvCxnSpPr>
        <p:spPr>
          <a:xfrm flipV="1">
            <a:off x="3118305" y="2654046"/>
            <a:ext cx="0" cy="164592"/>
          </a:xfrm>
          <a:prstGeom prst="line">
            <a:avLst/>
          </a:prstGeom>
          <a:ln w="15875">
            <a:solidFill>
              <a:srgbClr val="0096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33">
            <a:extLst>
              <a:ext uri="{FF2B5EF4-FFF2-40B4-BE49-F238E27FC236}">
                <a16:creationId xmlns:a16="http://schemas.microsoft.com/office/drawing/2014/main" id="{950ED7BC-B42B-0ED1-540F-6C80C9AB38A4}"/>
              </a:ext>
            </a:extLst>
          </p:cNvPr>
          <p:cNvCxnSpPr/>
          <p:nvPr/>
        </p:nvCxnSpPr>
        <p:spPr>
          <a:xfrm>
            <a:off x="3118305" y="2654046"/>
            <a:ext cx="1591970" cy="0"/>
          </a:xfrm>
          <a:prstGeom prst="line">
            <a:avLst/>
          </a:prstGeom>
          <a:ln w="15875">
            <a:solidFill>
              <a:srgbClr val="0096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34">
            <a:extLst>
              <a:ext uri="{FF2B5EF4-FFF2-40B4-BE49-F238E27FC236}">
                <a16:creationId xmlns:a16="http://schemas.microsoft.com/office/drawing/2014/main" id="{7CE8D452-789C-1206-4A64-FFFB1BD63B25}"/>
              </a:ext>
            </a:extLst>
          </p:cNvPr>
          <p:cNvCxnSpPr>
            <a:cxnSpLocks/>
          </p:cNvCxnSpPr>
          <p:nvPr/>
        </p:nvCxnSpPr>
        <p:spPr>
          <a:xfrm flipV="1">
            <a:off x="4710275" y="2416302"/>
            <a:ext cx="0" cy="237744"/>
          </a:xfrm>
          <a:prstGeom prst="line">
            <a:avLst/>
          </a:prstGeom>
          <a:ln w="15875">
            <a:solidFill>
              <a:srgbClr val="00967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37">
            <a:extLst>
              <a:ext uri="{FF2B5EF4-FFF2-40B4-BE49-F238E27FC236}">
                <a16:creationId xmlns:a16="http://schemas.microsoft.com/office/drawing/2014/main" id="{FFFDCF31-65E6-9C3B-C2B3-075BFF0DB59E}"/>
              </a:ext>
            </a:extLst>
          </p:cNvPr>
          <p:cNvSpPr txBox="1"/>
          <p:nvPr/>
        </p:nvSpPr>
        <p:spPr>
          <a:xfrm>
            <a:off x="2696366" y="2482553"/>
            <a:ext cx="347472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solidFill>
                  <a:srgbClr val="171C1B"/>
                </a:solidFill>
              </a:rPr>
              <a:t>≈ 50 </a:t>
            </a:r>
            <a:r>
              <a:rPr sz="800" b="1" i="0" dirty="0" err="1">
                <a:solidFill>
                  <a:srgbClr val="171C1B"/>
                </a:solidFill>
              </a:rPr>
              <a:t>postbariatrische</a:t>
            </a:r>
            <a:r>
              <a:rPr sz="800" b="1" i="0" dirty="0">
                <a:solidFill>
                  <a:srgbClr val="171C1B"/>
                </a:solidFill>
              </a:rPr>
              <a:t> </a:t>
            </a:r>
            <a:r>
              <a:rPr sz="800" b="1" i="0" dirty="0" err="1">
                <a:solidFill>
                  <a:srgbClr val="171C1B"/>
                </a:solidFill>
              </a:rPr>
              <a:t>Termine</a:t>
            </a:r>
            <a:r>
              <a:rPr sz="800" b="1" i="0" dirty="0">
                <a:solidFill>
                  <a:srgbClr val="171C1B"/>
                </a:solidFill>
              </a:rPr>
              <a:t> a</a:t>
            </a:r>
            <a:r>
              <a:rPr lang="de-CH" sz="800" b="1" i="0" dirty="0">
                <a:solidFill>
                  <a:srgbClr val="171C1B"/>
                </a:solidFill>
              </a:rPr>
              <a:t>n UDEM  </a:t>
            </a:r>
            <a:r>
              <a:rPr sz="800" b="0" i="0" dirty="0">
                <a:solidFill>
                  <a:srgbClr val="677078"/>
                </a:solidFill>
              </a:rPr>
              <a:t>· </a:t>
            </a:r>
            <a:r>
              <a:rPr sz="800" b="0" i="0" dirty="0" err="1">
                <a:solidFill>
                  <a:srgbClr val="677078"/>
                </a:solidFill>
              </a:rPr>
              <a:t>nach</a:t>
            </a:r>
            <a:r>
              <a:rPr sz="800" b="0" i="0" dirty="0">
                <a:solidFill>
                  <a:srgbClr val="677078"/>
                </a:solidFill>
              </a:rPr>
              <a:t> OP </a:t>
            </a:r>
            <a:r>
              <a:rPr sz="800" b="0" i="0" dirty="0" err="1">
                <a:solidFill>
                  <a:srgbClr val="677078"/>
                </a:solidFill>
              </a:rPr>
              <a:t>Viszeralchirurgie</a:t>
            </a:r>
            <a:endParaRPr sz="800" b="0" i="0" dirty="0">
              <a:solidFill>
                <a:srgbClr val="677078"/>
              </a:solidFill>
            </a:endParaRPr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9833CFC1-6948-DEDD-DFE7-6E5FF8203096}"/>
              </a:ext>
            </a:extLst>
          </p:cNvPr>
          <p:cNvSpPr/>
          <p:nvPr/>
        </p:nvSpPr>
        <p:spPr>
          <a:xfrm>
            <a:off x="6035040" y="1312915"/>
            <a:ext cx="2606040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39">
            <a:extLst>
              <a:ext uri="{FF2B5EF4-FFF2-40B4-BE49-F238E27FC236}">
                <a16:creationId xmlns:a16="http://schemas.microsoft.com/office/drawing/2014/main" id="{800F5571-A5D8-218C-003D-B9FAD1573F04}"/>
              </a:ext>
            </a:extLst>
          </p:cNvPr>
          <p:cNvSpPr/>
          <p:nvPr/>
        </p:nvSpPr>
        <p:spPr>
          <a:xfrm>
            <a:off x="6035040" y="1312915"/>
            <a:ext cx="36576" cy="2103120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51602A77-9DC2-D757-CF9E-78D38AC25EC0}"/>
              </a:ext>
            </a:extLst>
          </p:cNvPr>
          <p:cNvSpPr txBox="1"/>
          <p:nvPr/>
        </p:nvSpPr>
        <p:spPr>
          <a:xfrm>
            <a:off x="6217920" y="1440931"/>
            <a:ext cx="2286000" cy="1508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 dirty="0">
                <a:solidFill>
                  <a:srgbClr val="009670"/>
                </a:solidFill>
              </a:rPr>
              <a:t>GESAMTVOLUMEN UDEM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182880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71C1B"/>
                </a:solidFill>
              </a:rPr>
              <a:t>&gt; 1’000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245059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77078"/>
                </a:solidFill>
              </a:rPr>
              <a:t>Adipositas-Kontakte pro Monat,</a:t>
            </a:r>
          </a:p>
          <a:p>
            <a:pPr algn="l"/>
            <a:r>
              <a:rPr sz="1050" b="0" i="0">
                <a:solidFill>
                  <a:srgbClr val="677078"/>
                </a:solidFill>
              </a:rPr>
              <a:t>ärztlich und interprofessionell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3255264"/>
            <a:ext cx="53035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078"/>
                </a:solidFill>
              </a:rPr>
              <a:t>teils durch UDEM-Assistenzärzt:innen, UDEM-finanziert, Abrechnung UVCM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Ausgangslage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Zuweisungswege heute: drei Eingänge, zwei Zentren</a:t>
            </a: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212848"/>
            <a:ext cx="1325880" cy="71323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71C1B"/>
                </a:solidFill>
              </a:rPr>
              <a:t>Zuweisende</a:t>
            </a:r>
          </a:p>
          <a:p>
            <a:pPr algn="ctr"/>
            <a:r>
              <a:rPr sz="850" b="0">
                <a:solidFill>
                  <a:srgbClr val="677078"/>
                </a:solidFill>
              </a:rPr>
              <a:t>Hausärzt:innen, Spitäler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481328"/>
            <a:ext cx="2606040" cy="822960"/>
          </a:xfrm>
          <a:prstGeom prst="rect">
            <a:avLst/>
          </a:prstGeom>
          <a:solidFill>
            <a:srgbClr val="F0F6F3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zs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572768"/>
            <a:ext cx="2286000" cy="4326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44768" y="204825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677078"/>
                </a:solidFill>
              </a:rPr>
              <a:t>UDEM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852928"/>
            <a:ext cx="2606040" cy="822960"/>
          </a:xfrm>
          <a:prstGeom prst="rect">
            <a:avLst/>
          </a:prstGeom>
          <a:solidFill>
            <a:srgbClr val="F0F6F3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ad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926080"/>
            <a:ext cx="1234440" cy="30120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44768" y="341985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677078"/>
                </a:solidFill>
              </a:rPr>
              <a:t>UVCM · Viszerale Chirurgie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6720840" y="2304288"/>
            <a:ext cx="0" cy="548640"/>
          </a:xfrm>
          <a:prstGeom prst="line">
            <a:avLst/>
          </a:prstGeom>
          <a:ln w="38100">
            <a:solidFill>
              <a:srgbClr val="EE8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12280" y="243230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 err="1">
                <a:solidFill>
                  <a:srgbClr val="C0503A"/>
                </a:solidFill>
              </a:rPr>
              <a:t>Weiterweisung</a:t>
            </a:r>
            <a:endParaRPr sz="950" b="1" i="0" dirty="0">
              <a:solidFill>
                <a:srgbClr val="C0503A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5800" y="400507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9A4A38"/>
                </a:solidFill>
              </a:rPr>
              <a:t>WARTEZEIT BEI FEHLZUWEISUNG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44368" y="4114800"/>
            <a:ext cx="1463040" cy="329184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1–</a:t>
            </a:r>
            <a:r>
              <a:rPr lang="de-CH" sz="1100" b="1" dirty="0">
                <a:solidFill>
                  <a:srgbClr val="FFFFFF"/>
                </a:solidFill>
              </a:rPr>
              <a:t>3</a:t>
            </a:r>
            <a:r>
              <a:rPr sz="1100" b="1" dirty="0">
                <a:solidFill>
                  <a:srgbClr val="FFFFFF"/>
                </a:solidFill>
              </a:rPr>
              <a:t> </a:t>
            </a:r>
            <a:r>
              <a:rPr sz="1100" b="1" dirty="0" err="1">
                <a:solidFill>
                  <a:srgbClr val="FFFFFF"/>
                </a:solidFill>
              </a:rPr>
              <a:t>Monate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773168" y="4114800"/>
            <a:ext cx="1463040" cy="329184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+ 1–</a:t>
            </a:r>
            <a:r>
              <a:rPr lang="de-CH" sz="1100" b="1" dirty="0">
                <a:solidFill>
                  <a:srgbClr val="FFFFFF"/>
                </a:solidFill>
              </a:rPr>
              <a:t>3</a:t>
            </a:r>
            <a:r>
              <a:rPr sz="1100" b="1" dirty="0">
                <a:solidFill>
                  <a:srgbClr val="FFFFFF"/>
                </a:solidFill>
              </a:rPr>
              <a:t> </a:t>
            </a:r>
            <a:r>
              <a:rPr sz="1100" b="1" dirty="0" err="1">
                <a:solidFill>
                  <a:srgbClr val="FFFFFF"/>
                </a:solidFill>
              </a:rPr>
              <a:t>Monate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00800" y="4148587"/>
            <a:ext cx="21031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dirty="0">
                <a:solidFill>
                  <a:srgbClr val="C0503A"/>
                </a:solidFill>
              </a:rPr>
              <a:t>= bis </a:t>
            </a:r>
            <a:r>
              <a:rPr sz="1700" b="1" i="0" dirty="0" err="1">
                <a:solidFill>
                  <a:srgbClr val="C0503A"/>
                </a:solidFill>
              </a:rPr>
              <a:t>zu</a:t>
            </a:r>
            <a:r>
              <a:rPr sz="1700" b="1" i="0" dirty="0">
                <a:solidFill>
                  <a:srgbClr val="C0503A"/>
                </a:solidFill>
              </a:rPr>
              <a:t> </a:t>
            </a:r>
            <a:r>
              <a:rPr lang="de-CH" sz="1700" b="1" i="0" dirty="0">
                <a:solidFill>
                  <a:srgbClr val="C0503A"/>
                </a:solidFill>
              </a:rPr>
              <a:t>6</a:t>
            </a:r>
            <a:r>
              <a:rPr sz="1700" b="1" i="0" dirty="0">
                <a:solidFill>
                  <a:srgbClr val="C0503A"/>
                </a:solidFill>
              </a:rPr>
              <a:t> </a:t>
            </a:r>
            <a:r>
              <a:rPr sz="1700" b="1" i="0" dirty="0" err="1">
                <a:solidFill>
                  <a:srgbClr val="C0503A"/>
                </a:solidFill>
              </a:rPr>
              <a:t>Monate</a:t>
            </a:r>
            <a:endParaRPr sz="1700" b="1" i="0" dirty="0">
              <a:solidFill>
                <a:srgbClr val="C0503A"/>
              </a:solidFill>
            </a:endParaRPr>
          </a:p>
        </p:txBody>
      </p:sp>
      <p:cxnSp>
        <p:nvCxnSpPr>
          <p:cNvPr id="6" name="Connector 46">
            <a:extLst>
              <a:ext uri="{FF2B5EF4-FFF2-40B4-BE49-F238E27FC236}">
                <a16:creationId xmlns:a16="http://schemas.microsoft.com/office/drawing/2014/main" id="{44B12EFF-16E5-EE50-296F-D35DE5D9872F}"/>
              </a:ext>
            </a:extLst>
          </p:cNvPr>
          <p:cNvCxnSpPr>
            <a:cxnSpLocks/>
          </p:cNvCxnSpPr>
          <p:nvPr/>
        </p:nvCxnSpPr>
        <p:spPr>
          <a:xfrm>
            <a:off x="7790613" y="2322575"/>
            <a:ext cx="0" cy="548641"/>
          </a:xfrm>
          <a:prstGeom prst="line">
            <a:avLst/>
          </a:prstGeom>
          <a:ln w="38100">
            <a:solidFill>
              <a:srgbClr val="EE8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46">
            <a:extLst>
              <a:ext uri="{FF2B5EF4-FFF2-40B4-BE49-F238E27FC236}">
                <a16:creationId xmlns:a16="http://schemas.microsoft.com/office/drawing/2014/main" id="{3C6A3ED9-C14A-5248-3A79-12C8B0A03FCA}"/>
              </a:ext>
            </a:extLst>
          </p:cNvPr>
          <p:cNvCxnSpPr>
            <a:cxnSpLocks/>
          </p:cNvCxnSpPr>
          <p:nvPr/>
        </p:nvCxnSpPr>
        <p:spPr>
          <a:xfrm>
            <a:off x="4375367" y="4279392"/>
            <a:ext cx="337882" cy="0"/>
          </a:xfrm>
          <a:prstGeom prst="line">
            <a:avLst/>
          </a:prstGeom>
          <a:ln w="38100">
            <a:solidFill>
              <a:srgbClr val="EE8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874519" y="1993392"/>
            <a:ext cx="502921" cy="576072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874519" y="2569464"/>
            <a:ext cx="502921" cy="0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874519" y="2569464"/>
            <a:ext cx="502921" cy="576072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892040" y="1783080"/>
            <a:ext cx="1097280" cy="210312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892040" y="1993392"/>
            <a:ext cx="1097280" cy="1024128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892040" y="1965960"/>
            <a:ext cx="1097280" cy="603504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92040" y="2569464"/>
            <a:ext cx="1097280" cy="649224"/>
          </a:xfrm>
          <a:prstGeom prst="line">
            <a:avLst/>
          </a:prstGeom>
          <a:ln w="12700">
            <a:solidFill>
              <a:srgbClr val="EE8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892040" y="3145536"/>
            <a:ext cx="1097280" cy="256032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892040" y="2157984"/>
            <a:ext cx="1097280" cy="987552"/>
          </a:xfrm>
          <a:prstGeom prst="line">
            <a:avLst/>
          </a:prstGeom>
          <a:ln w="12700">
            <a:solidFill>
              <a:srgbClr val="EE8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2377440" y="182880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00" b="1">
                <a:solidFill>
                  <a:srgbClr val="171C1B"/>
                </a:solidFill>
              </a:rPr>
              <a:t>InselLink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377440" y="2404872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00" b="1">
                <a:solidFill>
                  <a:srgbClr val="171C1B"/>
                </a:solidFill>
              </a:rPr>
              <a:t>UDEM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77440" y="2980944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00" b="1">
                <a:solidFill>
                  <a:srgbClr val="171C1B"/>
                </a:solidFill>
              </a:rPr>
              <a:t>UVCM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48" grpId="0" animBg="1"/>
      <p:bldP spid="49" grpId="0" animBg="1"/>
      <p:bldP spid="50" grpId="0" animBg="1"/>
      <p:bldP spid="51" grpId="0" animBg="1"/>
      <p:bldP spid="53" grpId="0" animBg="1"/>
      <p:bldP spid="54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Zuweisung neu: gebündelte Triage, klare Kriterien</a:t>
            </a: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8132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677078"/>
                </a:solidFill>
              </a:rPr>
              <a:t>HEUTE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761488" y="2450592"/>
            <a:ext cx="384048" cy="310896"/>
          </a:xfrm>
          <a:prstGeom prst="rightArrow">
            <a:avLst/>
          </a:prstGeom>
          <a:solidFill>
            <a:srgbClr val="D5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40" y="148132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NEU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2194560"/>
            <a:ext cx="1325880" cy="86868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Gebündelte Triage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nach definierten Kriterien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95160" y="2624328"/>
            <a:ext cx="274320" cy="0"/>
          </a:xfrm>
          <a:prstGeom prst="line">
            <a:avLst/>
          </a:prstGeom>
          <a:ln w="2222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269480" y="2103120"/>
            <a:ext cx="1325880" cy="1051560"/>
          </a:xfrm>
          <a:prstGeom prst="rect">
            <a:avLst/>
          </a:prstGeom>
          <a:solidFill>
            <a:srgbClr val="F0F6F3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171C1B"/>
                </a:solidFill>
              </a:rPr>
              <a:t>Richtiger Behandlungspfad</a:t>
            </a:r>
          </a:p>
          <a:p>
            <a:pPr algn="ctr"/>
            <a:r>
              <a:rPr sz="850" b="0">
                <a:solidFill>
                  <a:srgbClr val="677078"/>
                </a:solidFill>
              </a:rPr>
              <a:t>ab dem Erstkontakt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77639"/>
            <a:ext cx="8046720" cy="45720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3977639"/>
            <a:ext cx="36576" cy="45720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3977639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10" b="0" i="0">
                <a:solidFill>
                  <a:srgbClr val="171C1B"/>
                </a:solidFill>
              </a:rPr>
              <a:t>Gebündelte Triage, klare Kriterien, keine Umwege zwischen den Kliniken.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210312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800" b="0">
                <a:solidFill>
                  <a:srgbClr val="677078"/>
                </a:solidFill>
              </a:rPr>
              <a:t>InselLink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2468879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800" b="0">
                <a:solidFill>
                  <a:srgbClr val="677078"/>
                </a:solidFill>
              </a:rPr>
              <a:t>UDEM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2834639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800" b="0">
                <a:solidFill>
                  <a:srgbClr val="677078"/>
                </a:solidFill>
              </a:rPr>
              <a:t>UVCM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40" y="2139696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50" b="1">
                <a:solidFill>
                  <a:srgbClr val="171C1B"/>
                </a:solidFill>
              </a:rPr>
              <a:t>InselLink</a:t>
            </a:r>
          </a:p>
          <a:p>
            <a:pPr algn="l"/>
            <a:r>
              <a:rPr sz="750" b="0">
                <a:solidFill>
                  <a:srgbClr val="006B4F"/>
                </a:solidFill>
              </a:rPr>
              <a:t>bleibt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272491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50" b="1">
                <a:solidFill>
                  <a:srgbClr val="171C1B"/>
                </a:solidFill>
              </a:rPr>
              <a:t>Zentrale Triage</a:t>
            </a:r>
          </a:p>
          <a:p>
            <a:pPr algn="l"/>
            <a:r>
              <a:rPr sz="750" b="0">
                <a:solidFill>
                  <a:srgbClr val="677078"/>
                </a:solidFill>
              </a:rPr>
              <a:t>definierte Stelle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212080" y="2331720"/>
            <a:ext cx="457200" cy="292608"/>
          </a:xfrm>
          <a:prstGeom prst="line">
            <a:avLst/>
          </a:prstGeom>
          <a:ln w="2222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212080" y="2624328"/>
            <a:ext cx="457200" cy="292608"/>
          </a:xfrm>
          <a:prstGeom prst="line">
            <a:avLst/>
          </a:prstGeom>
          <a:ln w="2222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34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Zielbild: ein gemeinsamer Auftritt, alle Therapien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Interdisziplinär aus einer Hand – mit Zertifizierungen und Qualitätssicherung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Trapezoid 20"/>
          <p:cNvSpPr/>
          <p:nvPr/>
        </p:nvSpPr>
        <p:spPr>
          <a:xfrm>
            <a:off x="548640" y="1572768"/>
            <a:ext cx="8046720" cy="365760"/>
          </a:xfrm>
          <a:prstGeom prst="trapezoid">
            <a:avLst>
              <a:gd name="adj" fmla="val 6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Gemeinsamer Auftritt Adipositas – UDEM &amp; UVCM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081528"/>
            <a:ext cx="8046720" cy="36576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3172968"/>
            <a:ext cx="3977639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32644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ZERTIFIZIERUNGEN</a:t>
            </a:r>
          </a:p>
        </p:txBody>
      </p:sp>
      <p:pic>
        <p:nvPicPr>
          <p:cNvPr id="41" name="Picture 40" descr="sm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224528"/>
            <a:ext cx="411480" cy="4114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34440" y="426110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71C1B"/>
                </a:solidFill>
              </a:rPr>
              <a:t>Bariatrisches Referenzzentrum</a:t>
            </a:r>
          </a:p>
          <a:p>
            <a:pPr algn="l"/>
            <a:r>
              <a:rPr sz="850" b="0" i="0">
                <a:solidFill>
                  <a:srgbClr val="677078"/>
                </a:solidFill>
              </a:rPr>
              <a:t>anerkannt durch die SMOB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13048" y="4334256"/>
            <a:ext cx="566928" cy="173736"/>
          </a:xfrm>
          <a:prstGeom prst="roundRect">
            <a:avLst>
              <a:gd name="adj" fmla="val 5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</a:rPr>
              <a:t>UVCM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04088" y="3858768"/>
            <a:ext cx="3648456" cy="0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511296"/>
            <a:ext cx="1325880" cy="27120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194560" y="355701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171C1B"/>
                </a:solidFill>
              </a:rPr>
              <a:t>EASO COMs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0" y="3566160"/>
            <a:ext cx="566928" cy="173736"/>
          </a:xfrm>
          <a:prstGeom prst="roundRect">
            <a:avLst>
              <a:gd name="adj" fmla="val 5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UDEM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3232" y="4169663"/>
            <a:ext cx="3648456" cy="0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13232" y="3922776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71C1B"/>
                </a:solidFill>
              </a:rPr>
              <a:t>Swiss Medical Obesity Center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40480" y="3931920"/>
            <a:ext cx="566928" cy="173736"/>
          </a:xfrm>
          <a:prstGeom prst="roundRect">
            <a:avLst>
              <a:gd name="adj" fmla="val 5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UDEM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17720" y="3172968"/>
            <a:ext cx="3977639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82312" y="32644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QUALITÄTSSICHERUNG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82312" y="3557016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Swiss Obesity Study (SOS)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26680" y="3259836"/>
            <a:ext cx="713232" cy="173736"/>
          </a:xfrm>
          <a:prstGeom prst="roundRect">
            <a:avLst>
              <a:gd name="adj" fmla="val 5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</a:rPr>
              <a:t>Lead: UDEM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82312" y="3794760"/>
            <a:ext cx="36576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de-CH" sz="850" b="0" i="0" dirty="0">
              <a:solidFill>
                <a:srgbClr val="677078"/>
              </a:solidFill>
            </a:endParaRPr>
          </a:p>
          <a:p>
            <a:pPr algn="l"/>
            <a:r>
              <a:rPr sz="850" b="0" i="0" dirty="0" err="1">
                <a:solidFill>
                  <a:srgbClr val="677078"/>
                </a:solidFill>
              </a:rPr>
              <a:t>Longitudinale</a:t>
            </a:r>
            <a:r>
              <a:rPr sz="850" b="0" i="0" dirty="0">
                <a:solidFill>
                  <a:srgbClr val="677078"/>
                </a:solidFill>
              </a:rPr>
              <a:t> Real-World-</a:t>
            </a:r>
            <a:r>
              <a:rPr sz="850" b="0" i="0" dirty="0" err="1">
                <a:solidFill>
                  <a:srgbClr val="677078"/>
                </a:solidFill>
              </a:rPr>
              <a:t>Daten</a:t>
            </a:r>
            <a:r>
              <a:rPr sz="850" b="0" i="0" dirty="0">
                <a:solidFill>
                  <a:srgbClr val="677078"/>
                </a:solidFill>
              </a:rPr>
              <a:t> </a:t>
            </a:r>
            <a:r>
              <a:rPr sz="850" b="0" i="0" dirty="0" err="1">
                <a:solidFill>
                  <a:srgbClr val="677078"/>
                </a:solidFill>
              </a:rPr>
              <a:t>zur</a:t>
            </a:r>
            <a:r>
              <a:rPr sz="850" b="0" i="0" dirty="0">
                <a:solidFill>
                  <a:srgbClr val="677078"/>
                </a:solidFill>
              </a:rPr>
              <a:t> </a:t>
            </a:r>
            <a:r>
              <a:rPr sz="850" b="0" i="0" dirty="0" err="1">
                <a:solidFill>
                  <a:srgbClr val="677078"/>
                </a:solidFill>
              </a:rPr>
              <a:t>Adipositasversorgung</a:t>
            </a:r>
            <a:r>
              <a:rPr sz="850" b="0" i="0" dirty="0">
                <a:solidFill>
                  <a:srgbClr val="677078"/>
                </a:solidFill>
              </a:rPr>
              <a:t> in der Schweiz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82312" y="4167282"/>
            <a:ext cx="3657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71C1B"/>
                </a:solidFill>
              </a:rPr>
              <a:t>≈ 2'500</a:t>
            </a:r>
            <a:r>
              <a:rPr sz="900" b="0" i="0" dirty="0">
                <a:solidFill>
                  <a:srgbClr val="677078"/>
                </a:solidFill>
              </a:rPr>
              <a:t> </a:t>
            </a:r>
            <a:r>
              <a:rPr sz="900" b="0" i="0" dirty="0" err="1">
                <a:solidFill>
                  <a:srgbClr val="677078"/>
                </a:solidFill>
              </a:rPr>
              <a:t>Teilnehmende</a:t>
            </a:r>
            <a:r>
              <a:rPr sz="900" b="0" i="0" dirty="0">
                <a:solidFill>
                  <a:srgbClr val="677078"/>
                </a:solidFill>
              </a:rPr>
              <a:t> </a:t>
            </a:r>
            <a:r>
              <a:rPr sz="900" b="0" i="0" dirty="0" err="1">
                <a:solidFill>
                  <a:srgbClr val="677078"/>
                </a:solidFill>
              </a:rPr>
              <a:t>seit</a:t>
            </a:r>
            <a:r>
              <a:rPr sz="900" b="0" i="0" dirty="0">
                <a:solidFill>
                  <a:srgbClr val="677078"/>
                </a:solidFill>
              </a:rPr>
              <a:t> 2025</a:t>
            </a:r>
            <a:r>
              <a:rPr sz="1300" b="1" i="0" dirty="0">
                <a:solidFill>
                  <a:srgbClr val="171C1B"/>
                </a:solidFill>
              </a:rPr>
              <a:t>     10 Jahre</a:t>
            </a:r>
            <a:r>
              <a:rPr sz="900" b="0" i="0" dirty="0">
                <a:solidFill>
                  <a:srgbClr val="677078"/>
                </a:solidFill>
              </a:rPr>
              <a:t> Follow-up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46DF1BE-203C-EF22-D4A2-86C201066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065" y="3268539"/>
            <a:ext cx="849888" cy="60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48640" y="1965960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009670"/>
                </a:solidFill>
              </a:rPr>
              <a:t>Gebündelte Triage: richtig zugewiesene und zufriedenere Patient:innen, mehr Zuweisungen für beide Kliniken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057400" y="2112264"/>
            <a:ext cx="0" cy="100584"/>
          </a:xfrm>
          <a:prstGeom prst="line">
            <a:avLst/>
          </a:prstGeom>
          <a:ln w="1587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086600" y="2112264"/>
            <a:ext cx="0" cy="100584"/>
          </a:xfrm>
          <a:prstGeom prst="line">
            <a:avLst/>
          </a:prstGeom>
          <a:ln w="1587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48640" y="2221992"/>
            <a:ext cx="3017520" cy="80467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22860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9670"/>
                </a:solidFill>
              </a:rPr>
              <a:t>UDEM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45059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Ernährung</a:t>
            </a:r>
          </a:p>
          <a:p>
            <a:pPr algn="l">
              <a:spcBef>
                <a:spcPts val="100"/>
              </a:spcBef>
            </a:pPr>
            <a:r>
              <a:rPr sz="1050" b="1" i="0">
                <a:solidFill>
                  <a:srgbClr val="171C1B"/>
                </a:solidFill>
              </a:rPr>
              <a:t>Medikamentöse Therapie</a:t>
            </a:r>
          </a:p>
          <a:p>
            <a:pPr algn="l">
              <a:spcBef>
                <a:spcPts val="100"/>
              </a:spcBef>
            </a:pPr>
            <a:r>
              <a:rPr sz="1050" b="1" i="0">
                <a:solidFill>
                  <a:srgbClr val="171C1B"/>
                </a:solidFill>
              </a:rPr>
              <a:t>Postbariatrische Nachsorge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77840" y="2221992"/>
            <a:ext cx="3017520" cy="80467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15000" y="22860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9670"/>
                </a:solidFill>
              </a:rPr>
              <a:t>UVCM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24505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Bariatrische Chirurgie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15000" y="263347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Operative und endoskopische Verfahren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66160" y="2231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71C1B"/>
                </a:solidFill>
              </a:rPr>
              <a:t>Indikation zur Bariatrie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639312" y="2395728"/>
            <a:ext cx="1865376" cy="0"/>
          </a:xfrm>
          <a:prstGeom prst="line">
            <a:avLst/>
          </a:prstGeom>
          <a:ln w="2222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566160" y="2468880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71C1B"/>
                </a:solidFill>
              </a:rPr>
              <a:t>Wechselwirkung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66160" y="2615184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1">
                <a:solidFill>
                  <a:srgbClr val="677078"/>
                </a:solidFill>
              </a:rPr>
              <a:t>erwartete Wirkung</a:t>
            </a:r>
          </a:p>
        </p:txBody>
      </p:sp>
      <p:cxnSp>
        <p:nvCxnSpPr>
          <p:cNvPr id="71" name="Connector 70"/>
          <p:cNvCxnSpPr/>
          <p:nvPr/>
        </p:nvCxnSpPr>
        <p:spPr>
          <a:xfrm flipH="1">
            <a:off x="3639312" y="2816352"/>
            <a:ext cx="1865376" cy="0"/>
          </a:xfrm>
          <a:prstGeom prst="line">
            <a:avLst/>
          </a:prstGeom>
          <a:ln w="2222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566160" y="2862072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71C1B"/>
                </a:solidFill>
              </a:rPr>
              <a:t>Postbariatrische Nachsorge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782312" y="4425696"/>
            <a:ext cx="3657600" cy="0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4782312" y="44805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71C1B"/>
                </a:solidFill>
              </a:rPr>
              <a:t>Adipositasboard: </a:t>
            </a:r>
            <a:r>
              <a:rPr sz="1000" b="0" i="0">
                <a:solidFill>
                  <a:srgbClr val="171C1B"/>
                </a:solidFill>
              </a:rPr>
              <a:t>interdisziplinäre Fallbesprechung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Ausgangslage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>
                <a:solidFill>
                  <a:srgbClr val="171C1B"/>
                </a:solidFill>
              </a:rPr>
              <a:t>Heute: </a:t>
            </a:r>
            <a:r>
              <a:rPr lang="de-CH" sz="2150" b="1" i="0" dirty="0">
                <a:solidFill>
                  <a:srgbClr val="171C1B"/>
                </a:solidFill>
              </a:rPr>
              <a:t>Zwei Webauftritte für Adipositas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8132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stoffwechsel-gewichtsregulation.insel.ch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148132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adipositasbern.ch</a:t>
            </a:r>
          </a:p>
        </p:txBody>
      </p:sp>
      <p:pic>
        <p:nvPicPr>
          <p:cNvPr id="22" name="Picture 21" descr="z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784"/>
            <a:ext cx="2331720" cy="1457325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pic>
        <p:nvPicPr>
          <p:cNvPr id="23" name="Picture 22" descr="a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700784"/>
            <a:ext cx="2331720" cy="1457325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548640" y="3255264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1">
                <a:solidFill>
                  <a:srgbClr val="006B4F"/>
                </a:solidFill>
              </a:rPr>
              <a:t>Insel-Standard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3255264"/>
            <a:ext cx="2331720" cy="237744"/>
          </a:xfrm>
          <a:prstGeom prst="roundRect">
            <a:avLst>
              <a:gd name="adj" fmla="val 50000"/>
            </a:avLst>
          </a:prstGeom>
          <a:solidFill>
            <a:srgbClr val="FCF1ED"/>
          </a:solidFill>
          <a:ln w="1270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1" dirty="0">
                <a:solidFill>
                  <a:srgbClr val="9B6051"/>
                </a:solidFill>
              </a:rPr>
              <a:t>Extern </a:t>
            </a:r>
            <a:r>
              <a:rPr sz="850" b="1" dirty="0" err="1">
                <a:solidFill>
                  <a:srgbClr val="9B6051"/>
                </a:solidFill>
              </a:rPr>
              <a:t>gehostet</a:t>
            </a:r>
            <a:r>
              <a:rPr sz="850" b="1" dirty="0">
                <a:solidFill>
                  <a:srgbClr val="9B6051"/>
                </a:solidFill>
              </a:rPr>
              <a:t> · </a:t>
            </a:r>
            <a:r>
              <a:rPr sz="850" b="1" dirty="0" err="1">
                <a:solidFill>
                  <a:srgbClr val="9B6051"/>
                </a:solidFill>
              </a:rPr>
              <a:t>nicht</a:t>
            </a:r>
            <a:r>
              <a:rPr sz="850" b="1" dirty="0">
                <a:solidFill>
                  <a:srgbClr val="9B6051"/>
                </a:solidFill>
              </a:rPr>
              <a:t> Insel-Standard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1481328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DOPPELTE INHALTE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1673352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Zwei Websites, zweimal Pflegeaufwand.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2139696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UNKLARE ZUSTÄNDIGKEIT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2331720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Zuweisende und Patient:innen wissen nicht, wo sie sich melden sollen.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2798064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UNEINHEITLICHER AUFTRITT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2990088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Zwei Designs, zwei Hosting-Lösungen.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3456432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GERINGERE SICHTBARKEIT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3648456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Beide Seiten konkurrieren um dieselben Suchbegriffe.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24528"/>
            <a:ext cx="8046720" cy="384048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4224528"/>
            <a:ext cx="36576" cy="384048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22452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71C1B"/>
                </a:solidFill>
              </a:rPr>
              <a:t>Für Zuweisende und Patient:innen ist heute nicht erkennbar, dass es ein gemeinsames Angebot 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Umsetzung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 err="1">
                <a:solidFill>
                  <a:srgbClr val="171C1B"/>
                </a:solidFill>
              </a:rPr>
              <a:t>Nächste</a:t>
            </a:r>
            <a:r>
              <a:rPr sz="2150" b="1" i="0" dirty="0">
                <a:solidFill>
                  <a:srgbClr val="171C1B"/>
                </a:solidFill>
              </a:rPr>
              <a:t> </a:t>
            </a:r>
            <a:r>
              <a:rPr sz="2150" b="1" i="0" dirty="0" err="1">
                <a:solidFill>
                  <a:srgbClr val="171C1B"/>
                </a:solidFill>
              </a:rPr>
              <a:t>Schritte</a:t>
            </a:r>
            <a:r>
              <a:rPr sz="2150" b="1" i="0" dirty="0">
                <a:solidFill>
                  <a:srgbClr val="171C1B"/>
                </a:solidFill>
              </a:rPr>
              <a:t> und </a:t>
            </a:r>
            <a:r>
              <a:rPr sz="2150" b="1" i="0" dirty="0" err="1">
                <a:solidFill>
                  <a:srgbClr val="171C1B"/>
                </a:solidFill>
              </a:rPr>
              <a:t>Zeitplan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Entwurf zur gemeinsamen Festlegung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640" y="4069080"/>
            <a:ext cx="36576" cy="457200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40690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71C1B"/>
                </a:solidFill>
              </a:rPr>
              <a:t>Zeitplan, Zuständigkeiten und Kriterien sind Platzhalter und werden gemeinsam festgelegt.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1645920"/>
            <a:ext cx="1481328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17739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176272"/>
            <a:ext cx="1207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Zielstruktur definieren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724912"/>
            <a:ext cx="1207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Stossrichtung UDEM / UVCM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3346704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heute, 27.10.2026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29968" y="2532888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677078"/>
                </a:solidFill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12848" y="1645920"/>
            <a:ext cx="1481328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50008" y="17739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50008" y="2176272"/>
            <a:ext cx="1207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Projektstart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50008" y="2724912"/>
            <a:ext cx="1207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Projektteam noch zu definieren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50008" y="3346704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Q4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4176" y="2532888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677078"/>
                </a:solidFill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77056" y="1645920"/>
            <a:ext cx="3054096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14216" y="17739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79976" y="182880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Parallel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833872" y="1828800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ab Q4 2026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14216" y="2212848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14216" y="2212848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33088" y="2212848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Zuweisungen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14216" y="2514600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14216" y="2514600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33088" y="2514600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Triage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14216" y="2816352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014216" y="2816352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33088" y="2816352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Prozesse und Subprozesse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14216" y="3118104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14216" y="3118104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33088" y="3118104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Website anpassen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14216" y="3419856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014216" y="3419856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33088" y="3419856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Adipositasboard optimieren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31152" y="2532888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677078"/>
                </a:solidFill>
              </a:rPr>
              <a:t>→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14032" y="1645920"/>
            <a:ext cx="1481328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51192" y="17739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51192" y="2176272"/>
            <a:ext cx="1207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Einführen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51192" y="2724912"/>
            <a:ext cx="1207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Go-live und Information der Zuweisenden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51192" y="3346704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Ende Q1 2027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ED95D39-7202-4A89-8FC1-3B34C5D89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Inselspital, Universitätsklinik für Diabetologie, Endokrinologie, Ernährungsmedizin und Metabolismus, Freiburgstrasse 15, 3010 Bern</a:t>
            </a:r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012F4C9-0979-4D97-9A9C-3D67758F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Zur Diskussion</a:t>
            </a:r>
            <a:br>
              <a:rPr lang="de-CH" dirty="0"/>
            </a:br>
            <a:br>
              <a:rPr lang="de-CH" sz="2800" b="0" dirty="0">
                <a:solidFill>
                  <a:srgbClr val="171C1B"/>
                </a:solidFill>
                <a:latin typeface="Arial"/>
              </a:rPr>
            </a:br>
            <a:endParaRPr lang="de-CH" dirty="0"/>
          </a:p>
        </p:txBody>
      </p:sp>
      <p:sp>
        <p:nvSpPr>
          <p:cNvPr id="4" name="Entwurf"/>
          <p:cNvSpPr/>
          <p:nvPr/>
        </p:nvSpPr>
        <p:spPr>
          <a:xfrm>
            <a:off x="7360920" y="320040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>
                <a:solidFill>
                  <a:srgbClr val="EE8F7A"/>
                </a:solidFill>
              </a:rPr>
              <a:t>ENTWURF</a:t>
            </a:r>
          </a:p>
        </p:txBody>
      </p:sp>
    </p:spTree>
    <p:extLst>
      <p:ext uri="{BB962C8B-B14F-4D97-AF65-F5344CB8AC3E}">
        <p14:creationId xmlns:p14="http://schemas.microsoft.com/office/powerpoint/2010/main" val="2041057318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 · Option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Eine gemeinsame Plattform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Webauftritt, Briefkopf, Patientenpfad und Adipositasboard – für UDEM und UVCM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pic>
        <p:nvPicPr>
          <p:cNvPr id="21" name="Picture 20" descr="moc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7632"/>
            <a:ext cx="4892040" cy="2441573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623560" y="1627632"/>
            <a:ext cx="2971800" cy="768096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23560" y="1627632"/>
            <a:ext cx="36576" cy="768096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70992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GEMEINSAMER WEBAUFTRITT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901952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1C1B"/>
                </a:solidFill>
              </a:rPr>
              <a:t>Website UDEM &amp; UVCM, Adresse offen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2121408"/>
            <a:ext cx="196596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Hosting nach Insel-Standard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2459736"/>
            <a:ext cx="2971800" cy="7315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23560" y="2459736"/>
            <a:ext cx="36576" cy="7315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254203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EINHEITLICHER BRIEFKOPF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734056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rcRect r="53214"/>
          <a:stretch>
            <a:fillRect/>
          </a:stretch>
        </p:blipFill>
        <p:spPr>
          <a:xfrm>
            <a:off x="5824728" y="2779776"/>
            <a:ext cx="357257" cy="1554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36792" y="278892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009670"/>
                </a:solidFill>
              </a:rPr>
              <a:t>UDEM &amp; UVCM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24728" y="2971800"/>
            <a:ext cx="128016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24728" y="3035808"/>
            <a:ext cx="987552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287768" y="273405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77078"/>
                </a:solidFill>
              </a:rPr>
              <a:t>Gleicher Kopf für Berichte und Briefe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3255264"/>
            <a:ext cx="2971800" cy="768096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23560" y="3255264"/>
            <a:ext cx="36576" cy="768096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3337560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EINHEITLICHER PATIENTENPFAD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3538728"/>
            <a:ext cx="58521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Zuweisung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55080" y="3639312"/>
            <a:ext cx="54864" cy="0"/>
          </a:xfrm>
          <a:prstGeom prst="line">
            <a:avLst/>
          </a:prstGeom>
          <a:ln w="127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419088" y="353872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Triage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30568" y="3639312"/>
            <a:ext cx="54864" cy="0"/>
          </a:xfrm>
          <a:prstGeom prst="line">
            <a:avLst/>
          </a:prstGeom>
          <a:ln w="127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894576" y="3538728"/>
            <a:ext cx="69494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Assessments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598664" y="3639312"/>
            <a:ext cx="54864" cy="0"/>
          </a:xfrm>
          <a:prstGeom prst="line">
            <a:avLst/>
          </a:prstGeom>
          <a:ln w="127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662672" y="3538728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Sprechstunde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3803904"/>
            <a:ext cx="2697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078"/>
                </a:solidFill>
              </a:rPr>
              <a:t>Sprechstunde an der UDEM oder an der UVCM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23560" y="4087368"/>
            <a:ext cx="2971800" cy="512064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23560" y="4087368"/>
            <a:ext cx="36576" cy="512064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0" y="4169663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ADIPOSITASBOARD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436168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1C1B"/>
                </a:solidFill>
              </a:rPr>
              <a:t>Interdisziplinäre Fallbesprechung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 · Option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Eine gemeinsame Plattform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Webauftritt, Briefkopf, Patientenpfad und Adipositasboard – für UDEM und UVCM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pic>
        <p:nvPicPr>
          <p:cNvPr id="21" name="Picture 20" descr="mock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7632"/>
            <a:ext cx="4892040" cy="2597229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623560" y="1627632"/>
            <a:ext cx="2971800" cy="768096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23560" y="1627632"/>
            <a:ext cx="36576" cy="768096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70992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GEMEINSAMER WEBAUFTRITT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901952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1C1B"/>
                </a:solidFill>
              </a:rPr>
              <a:t>Website UDEM &amp; UVCM, Adresse offen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2121408"/>
            <a:ext cx="196596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Hosting nach Insel-Standard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2459736"/>
            <a:ext cx="2971800" cy="7315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23560" y="2459736"/>
            <a:ext cx="36576" cy="7315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254203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EINHEITLICHER BRIEFKOPF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734056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rcRect r="53214"/>
          <a:stretch>
            <a:fillRect/>
          </a:stretch>
        </p:blipFill>
        <p:spPr>
          <a:xfrm>
            <a:off x="5824728" y="2779776"/>
            <a:ext cx="357257" cy="1554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36792" y="278892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009670"/>
                </a:solidFill>
              </a:rPr>
              <a:t>UDEM &amp; UVCM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24728" y="2971800"/>
            <a:ext cx="128016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24728" y="3035808"/>
            <a:ext cx="987552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287768" y="273405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77078"/>
                </a:solidFill>
              </a:rPr>
              <a:t>Gleicher Kopf für Berichte und Briefe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3255264"/>
            <a:ext cx="2971800" cy="768096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23560" y="3255264"/>
            <a:ext cx="36576" cy="768096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3337560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EINHEITLICHER PATIENTENPFAD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3538728"/>
            <a:ext cx="58521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Zuweisung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55080" y="3639312"/>
            <a:ext cx="54864" cy="0"/>
          </a:xfrm>
          <a:prstGeom prst="line">
            <a:avLst/>
          </a:prstGeom>
          <a:ln w="127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419088" y="353872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Triage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30568" y="3639312"/>
            <a:ext cx="54864" cy="0"/>
          </a:xfrm>
          <a:prstGeom prst="line">
            <a:avLst/>
          </a:prstGeom>
          <a:ln w="127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894576" y="3538728"/>
            <a:ext cx="69494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Assessments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598664" y="3639312"/>
            <a:ext cx="54864" cy="0"/>
          </a:xfrm>
          <a:prstGeom prst="line">
            <a:avLst/>
          </a:prstGeom>
          <a:ln w="127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662672" y="3538728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Sprechstunde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3803904"/>
            <a:ext cx="2697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078"/>
                </a:solidFill>
              </a:rPr>
              <a:t>Sprechstunde an der UDEM oder an der UVCM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23560" y="4087368"/>
            <a:ext cx="2971800" cy="512064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23560" y="4087368"/>
            <a:ext cx="36576" cy="512064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0" y="4169663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ADIPOSITASBOARD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436168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1C1B"/>
                </a:solidFill>
              </a:rPr>
              <a:t>Interdisziplinäre Fallbesprechung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 Titel Insel Spital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4C0F31AB-11C0-4408-956C-E9B98EDB0FAB}"/>
    </a:ext>
  </a:extLst>
</a:theme>
</file>

<file path=ppt/theme/theme2.xml><?xml version="1.0" encoding="utf-8"?>
<a:theme xmlns:a="http://schemas.openxmlformats.org/drawingml/2006/main" name="1_Master Titel Insel Spital mit UCI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BF4D9168-52B6-4F7D-9816-FC1A762958C4}"/>
    </a:ext>
  </a:extLst>
</a:theme>
</file>

<file path=ppt/theme/theme3.xml><?xml version="1.0" encoding="utf-8"?>
<a:theme xmlns:a="http://schemas.openxmlformats.org/drawingml/2006/main" name="Master Inhalt Insel Spital 18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904E66F1-9887-40AC-A850-B8238F8127FE}"/>
    </a:ext>
  </a:extLst>
</a:theme>
</file>

<file path=ppt/theme/theme4.xml><?xml version="1.0" encoding="utf-8"?>
<a:theme xmlns:a="http://schemas.openxmlformats.org/drawingml/2006/main" name="Master Inhalt Insel Spital 14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FC3BB2A8-8B94-4B57-8A93-ACBBD1F9B90F}"/>
    </a:ext>
  </a:extLst>
</a:theme>
</file>

<file path=ppt/theme/theme5.xml><?xml version="1.0" encoding="utf-8"?>
<a:theme xmlns:a="http://schemas.openxmlformats.org/drawingml/2006/main" name="Master Inhalt Insel Spital 12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A9936B5D-6CF3-4AE6-91B6-8C4AD06F476B}"/>
    </a:ext>
  </a:extLst>
</a:theme>
</file>

<file path=ppt/theme/theme6.xml><?xml version="1.0" encoding="utf-8"?>
<a:theme xmlns:a="http://schemas.openxmlformats.org/drawingml/2006/main" name="Master Inhalt Insel Spital 10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005E663E-20D0-4D92-A153-AF68010EB01F}"/>
    </a:ext>
  </a:extLst>
</a:theme>
</file>

<file path=ppt/theme/theme7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C61BAC2D613B146B62EA0C89E8ABE0B" ma:contentTypeVersion="1" ma:contentTypeDescription="Ein neues Dokument erstellen." ma:contentTypeScope="" ma:versionID="b96f590150f6c51695eb02ee05cd3cc8">
  <xsd:schema xmlns:xsd="http://www.w3.org/2001/XMLSchema" xmlns:xs="http://www.w3.org/2001/XMLSchema" xmlns:p="http://schemas.microsoft.com/office/2006/metadata/properties" xmlns:ns2="70db88b2-e820-42ba-aca9-d1475689a070" targetNamespace="http://schemas.microsoft.com/office/2006/metadata/properties" ma:root="true" ma:fieldsID="dafaf2c359ac23becbe82584ea0d56f4" ns2:_="">
    <xsd:import namespace="70db88b2-e820-42ba-aca9-d1475689a070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db88b2-e820-42ba-aca9-d1475689a07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2E4E3B-3738-4EE9-BE0A-FF791C330B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db88b2-e820-42ba-aca9-d1475689a0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DF66D4-6F61-45C7-AC76-432042C7F152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70db88b2-e820-42ba-aca9-d1475689a070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45AA231-31C2-416F-8FEB-CA616B861A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Nachfrage &amp; Angebot UDEM Sprechstunden_Juni 2025</Template>
  <TotalTime>0</TotalTime>
  <Words>820</Words>
  <Application>Microsoft Office PowerPoint</Application>
  <PresentationFormat>Bildschirmpräsentation (16:9)</PresentationFormat>
  <Paragraphs>235</Paragraphs>
  <Slides>11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6</vt:i4>
      </vt:variant>
      <vt:variant>
        <vt:lpstr>Folientitel</vt:lpstr>
      </vt:variant>
      <vt:variant>
        <vt:i4>11</vt:i4>
      </vt:variant>
    </vt:vector>
  </HeadingPairs>
  <TitlesOfParts>
    <vt:vector size="19" baseType="lpstr">
      <vt:lpstr>Arial</vt:lpstr>
      <vt:lpstr>Calibri</vt:lpstr>
      <vt:lpstr>Master Titel Insel Spital</vt:lpstr>
      <vt:lpstr>1_Master Titel Insel Spital mit UCI</vt:lpstr>
      <vt:lpstr>Master Inhalt Insel Spital 18pt</vt:lpstr>
      <vt:lpstr>Master Inhalt Insel Spital 14pt</vt:lpstr>
      <vt:lpstr>Master Inhalt Insel Spital 12pt</vt:lpstr>
      <vt:lpstr>Master Inhalt Insel Spital 10pt</vt:lpstr>
      <vt:lpstr>Zusammenarbeit Adipositasbereich UDEM &amp; UVCM Gemeinsamer Auftritt und klare Zuweisungswege  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Zur Diskussion  </vt:lpstr>
    </vt:vector>
  </TitlesOfParts>
  <Company>Insel Gruppe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Nachfrage vs. Angebot UDEM Sprechstunden Nachfrage = verordnete aber noch nicht geplante Sprechstunden Angebot = freie noch nicht gebuchte Sprechstundenzeitfenster Stand der Zahlen: 29.06.2025</dc:title>
  <dc:creator>Magariños Lorenzo, David</dc:creator>
  <cp:lastModifiedBy>Burgener, Vincent</cp:lastModifiedBy>
  <cp:revision>98</cp:revision>
  <dcterms:created xsi:type="dcterms:W3CDTF">2025-07-28T07:27:53Z</dcterms:created>
  <dcterms:modified xsi:type="dcterms:W3CDTF">2026-10-20T14:46:01Z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0x010100AC61BAC2D613B146B62EA0C89E8ABE0B</vt:lpwstr>
  </property>
</Properties>
</file>