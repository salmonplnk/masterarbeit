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4"/>
    <p:sldMasterId id="2147483801" r:id="rId5"/>
    <p:sldMasterId id="2147483749" r:id="rId6"/>
    <p:sldMasterId id="2147483754" r:id="rId7"/>
    <p:sldMasterId id="2147483766" r:id="rId8"/>
    <p:sldMasterId id="2147483763" r:id="rId9"/>
  </p:sldMasterIdLst>
  <p:notesMasterIdLst>
    <p:notesMasterId r:id="rId21"/>
  </p:notesMasterIdLst>
  <p:sldIdLst>
    <p:sldId id="397" r:id="rId10"/>
    <p:sldId id="486" r:id="rId27"/>
    <p:sldId id="481" r:id="rId11"/>
    <p:sldId id="483" r:id="rId12"/>
    <p:sldId id="482" r:id="rId13"/>
    <p:sldId id="476" r:id="rId14"/>
    <p:sldId id="479" r:id="rId15"/>
    <p:sldId id="484" r:id="rId16"/>
    <p:sldId id="475" r:id="rId17"/>
    <p:sldId id="485" r:id="rId26"/>
    <p:sldId id="480" r:id="rId19"/>
    <p:sldId id="421" r:id="rId20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6051"/>
    <a:srgbClr val="19C295"/>
    <a:srgbClr val="F8CF3B"/>
    <a:srgbClr val="D1E2BC"/>
    <a:srgbClr val="4A7094"/>
    <a:srgbClr val="E4DBCF"/>
    <a:srgbClr val="8C7482"/>
    <a:srgbClr val="F5EBEF"/>
    <a:srgbClr val="666F77"/>
    <a:srgbClr val="BFE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035" autoAdjust="0"/>
  </p:normalViewPr>
  <p:slideViewPr>
    <p:cSldViewPr snapToGrid="0" snapToObjects="1">
      <p:cViewPr varScale="1">
        <p:scale>
          <a:sx n="112" d="100"/>
          <a:sy n="112" d="100"/>
        </p:scale>
        <p:origin x="943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8" d="100"/>
          <a:sy n="128" d="100"/>
        </p:scale>
        <p:origin x="3152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2.xml"/><Relationship Id="rId27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BB809-BBEE-7448-9233-6973D63859EA}" type="datetimeFigureOut">
              <a:rPr lang="de-DE" smtClean="0"/>
              <a:t>20.10.2026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95C04-E291-F549-9F12-4CD1EACFC0C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193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5544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164642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774149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6910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F7933CFC-4F5A-4A16-BEBD-7CBC4AD616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77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BE3FA-6E51-4604-A8C1-F31B846E61BB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32B86DD8-50B3-4848-ABF9-6EEDF69AEC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322884C1-8C9F-4CF3-8BF3-0FEEF20793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47D06EA-B3AC-400B-A5C0-A74EB21FA9C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</p:spTree>
    <p:extLst>
      <p:ext uri="{BB962C8B-B14F-4D97-AF65-F5344CB8AC3E}">
        <p14:creationId xmlns:p14="http://schemas.microsoft.com/office/powerpoint/2010/main" val="834100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40779F-9D96-4E49-9A95-916D8689FD27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7E70A4B-63D8-4003-968B-B03A2A2398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A167FA2-7604-41AA-80F3-F3CFBEABAA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0A37BB8-3844-483D-AA8A-059028517CB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6591C452-DBD1-49E8-925F-DDB45E5691A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17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95239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4821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Parallelogramm 17">
              <a:extLst>
                <a:ext uri="{FF2B5EF4-FFF2-40B4-BE49-F238E27FC236}">
                  <a16:creationId xmlns:a16="http://schemas.microsoft.com/office/drawing/2014/main" id="{81749E14-C3B3-4DE6-8926-F38CC2F2EA68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8C1736A2-7D21-473D-BD43-3BD952F9428E}"/>
              </a:ext>
            </a:extLst>
          </p:cNvPr>
          <p:cNvSpPr>
            <a:spLocks noGrp="1"/>
          </p:cNvSpPr>
          <p:nvPr userDrawn="1"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023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0CF085D-7739-4B2B-ADA0-3EA7F2236B6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DC09BA77-CA7A-430D-8338-3F5B0F6CB2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5BC4CC3B-A641-457E-A176-66B0CDF628A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3146D11-993A-4297-A541-07127039B4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154021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6DF0C3F-007B-46B8-BA6C-21837725C60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A763453B-85FC-406B-A622-60DF3DD481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BAE0242-799B-4BBA-8490-1F06555E974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BF54632-D304-402E-9979-93425653C72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6713D3E4-37C3-4882-B46F-B103EB7B5F1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270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391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263" cy="3168650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773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263" cy="2881313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7E2BEC9-DE17-49F6-A9DF-997F8B126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1"/>
            <a:ext cx="8064502" cy="618538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32080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661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4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1149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33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655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F0D8FBF-A07C-4866-9389-B4137901E10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1266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79B65DD1-9D52-420C-AA23-0BCA4F6CBC97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6665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2001BB61-9874-48F8-A34A-6F400FC3841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011872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CD7D5465-DF3D-42F7-BAC6-FD3D33C123C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0176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3243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6026149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26149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1" y="1635125"/>
            <a:ext cx="2592388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2592389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B528CB7A-D7D9-468E-81A2-9CF75ED7227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0888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A034FE27-32BF-4AC2-ABB1-F6000E7953CF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0888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1038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347788"/>
            <a:ext cx="3960812" cy="3168649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5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56143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8507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17263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49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7263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2877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40896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347788"/>
            <a:ext cx="8064500" cy="316865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1078F63C-E67D-447C-9587-11C304B9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658D9A-D362-4E60-8D9D-D3CCBCAC1E1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8D55B-F0F9-4553-A366-20529D5A0F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DFC55-CD46-43B8-BBB6-745DA8F8252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91038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635125"/>
            <a:ext cx="8064500" cy="28813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CA098561-4FE8-40A7-9C05-EBA73B8F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4362AD-DCA6-4691-8F60-5C3F6D9C7A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C569EC-8102-496F-9A59-602276FD5F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C7BA41-C6B5-4E40-B912-D7E3D397AE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3231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347786"/>
            <a:ext cx="3960813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CDDBD1-2B5F-4590-B9C1-284DC232795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F72F00D-6964-42BD-93AC-CAD44499877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0BF42BC-CBB9-41A4-BE48-83465225F07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821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5"/>
            <a:ext cx="3960813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E8BCB2-59A7-43B5-9F67-BAF961FD360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D6CFA7A-72A0-4FEE-9BC5-8BC8EEB683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C316F5-00D7-47DB-A7E2-E9A1062AFE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6285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3960813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34778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3438" y="298643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3DEA4B-0DBE-4951-843B-C24B68FC75C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87510C-34B3-40A6-88C4-C03617CF0E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8D6E12-BDD7-4A92-84CE-368D6B816F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29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635124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0382" y="3130436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154CF33-07F1-43EA-86C7-78EBCAF24D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4C78C-33D6-47EC-BE3F-76362EDC680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33DD5F-53A4-4342-866C-F9A4584BE66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4869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1983" userDrawn="1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5327649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347788"/>
            <a:ext cx="2598519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2986438"/>
            <a:ext cx="2591576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373529-F7A2-45A8-836D-809EBF13363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96CBC6-FA68-44FA-91C4-9C7479D150F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F4B4FB-3D17-4C33-BF59-A5C985ED258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383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5327649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635124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3130436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5597BD-C3EF-4098-8380-1789F1B74E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1C4FF3-7085-4390-B304-41BBBEAC73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4AAF0-742E-4CD3-B5AB-BFF0DA4AC9A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584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>
          <p15:clr>
            <a:srgbClr val="A4A3A4"/>
          </p15:clr>
        </p15:guide>
        <p15:guide id="2" orient="horz" pos="1983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816B3C4-5B86-40B1-9E66-9592F0482BD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EE57E07-FC83-45B1-972A-148628B64F0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71446F-3325-44B4-AAE8-F41371B15B4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678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24EE65-E726-45BF-B35A-20A1C90EF05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B559C8B-1516-466C-871E-FC16718A50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C72815D-657F-499B-A0FC-CD97FB5025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909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EB69F8-F1B1-4A21-9EBE-0B3359338481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3FB787-8E90-4616-BFB8-81E4AA525C5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5BB3F-911C-4C73-B1CE-73E27A76777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005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EC1D86-1E03-464B-94BD-4B145BF765B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2BB1E0-BEF3-4332-BEB3-11F7A60388E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25666-4ECC-4838-AD31-73C4588B0D94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50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 userDrawn="1">
          <p15:clr>
            <a:srgbClr val="A4A3A4"/>
          </p15:clr>
        </p15:guide>
        <p15:guide id="2" orient="horz" pos="1915" userDrawn="1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347788"/>
            <a:ext cx="8064500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EC5359AF-FB62-482D-9B05-953F313D1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795CFE1-438D-45FF-9241-3B89232677A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93919-452E-4DAA-BE01-024CC2A327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48ED4A-E681-4314-A7D9-952F1C10EE0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7232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635125"/>
            <a:ext cx="8064500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itelplatzhalter 9">
            <a:extLst>
              <a:ext uri="{FF2B5EF4-FFF2-40B4-BE49-F238E27FC236}">
                <a16:creationId xmlns:a16="http://schemas.microsoft.com/office/drawing/2014/main" id="{7FEE2481-B64C-48DE-96E9-60DFF5D2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394AC6D-6063-4A71-8EC4-D3854AEEC58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C81B1-A44E-438D-80D1-FA9DB536E1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0B69EE-DA62-43D9-9E89-284A0063A9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137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F74A82-11AA-476A-ABB8-AAC8F682FC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AB8F4A-29B3-4A57-A4DC-3E0B595F6E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F6A78B-B405-4530-8318-6B57187B973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6765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9195D-040A-43D5-ADAD-796FF742FA5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3ED8D8A-A177-41D3-8865-4E10897C0ED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898502-3D30-4F0A-9415-90766FF768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66592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51C505-4AC8-45E3-A7EA-8EB9EBD2C10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3003C7-355F-4823-B3B6-EF3FE330212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38668B-34A4-40E9-ACB6-DFDB5A0AD9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7192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22F657B-9177-4B97-B634-D922DB243F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C5C1DA-D9E6-46D2-BF2E-C50A93F09C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19B5684-6926-4C6A-A2D3-0AF9051FD8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07012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2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1pPr>
            <a:lvl2pPr>
              <a:lnSpc>
                <a:spcPct val="90000"/>
              </a:lnSpc>
              <a:spcBef>
                <a:spcPts val="800"/>
              </a:spcBef>
              <a:defRPr sz="1200"/>
            </a:lvl2pPr>
            <a:lvl3pPr marL="5184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3pPr>
            <a:lvl4pPr marL="691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4pPr>
            <a:lvl5pPr marL="8640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5pPr>
            <a:lvl6pPr marL="1036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6pPr>
            <a:lvl7pPr marL="12096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7pPr>
            <a:lvl8pPr marL="1382400" indent="-172800">
              <a:lnSpc>
                <a:spcPts val="1400"/>
              </a:lnSpc>
              <a:spcBef>
                <a:spcPts val="800"/>
              </a:spcBef>
              <a:defRPr sz="1200" baseline="0">
                <a:latin typeface="+mn-lt"/>
              </a:defRPr>
            </a:lvl8pPr>
            <a:lvl9pPr marL="1555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51044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8912E3-7BB7-4686-92EE-D17A34165B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635125"/>
            <a:ext cx="8069263" cy="288131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lnSpc>
                <a:spcPts val="1400"/>
              </a:lnSpc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32764785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4682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92478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66437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03699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534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7125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3230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BECA2B6-A0FC-4D93-AA20-001A2E012D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81660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32FFD0BC-CDB7-439A-8302-57046DB564C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347788"/>
            <a:ext cx="8064500" cy="29527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2438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8653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30A110C-3D67-4101-87E4-F48D13C2A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CAED37D4-476A-423E-9BBF-CE21D475E31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635126"/>
            <a:ext cx="8064500" cy="26654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0721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77111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899" cy="2881313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2420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16923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399889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1168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85420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theme" Target="../theme/theme4.xml"/><Relationship Id="rId20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12" Type="http://schemas.openxmlformats.org/officeDocument/2006/relationships/image" Target="../media/image1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theme" Target="../theme/theme6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800" r:id="rId3"/>
    <p:sldLayoutId id="2147483799" r:id="rId4"/>
    <p:sldLayoutId id="2147483679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 userDrawn="1">
          <p15:clr>
            <a:srgbClr val="F26B43"/>
          </p15:clr>
        </p15:guide>
        <p15:guide id="3" orient="horz" pos="1461" userDrawn="1">
          <p15:clr>
            <a:srgbClr val="F26B43"/>
          </p15:clr>
        </p15:guide>
        <p15:guide id="4" orient="horz" pos="282" userDrawn="1">
          <p15:clr>
            <a:srgbClr val="F26B43"/>
          </p15:clr>
        </p15:guide>
        <p15:guide id="5" pos="340" userDrawn="1">
          <p15:clr>
            <a:srgbClr val="F26B43"/>
          </p15:clr>
        </p15:guide>
        <p15:guide id="6" orient="horz" pos="463" userDrawn="1">
          <p15:clr>
            <a:srgbClr val="F26B43"/>
          </p15:clr>
        </p15:guide>
        <p15:guide id="7" orient="horz" pos="962" userDrawn="1">
          <p15:clr>
            <a:srgbClr val="F26B43"/>
          </p15:clr>
        </p15:guide>
        <p15:guide id="9" pos="54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43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>
          <p15:clr>
            <a:srgbClr val="F26B43"/>
          </p15:clr>
        </p15:guide>
        <p15:guide id="3" orient="horz" pos="1461">
          <p15:clr>
            <a:srgbClr val="F26B43"/>
          </p15:clr>
        </p15:guide>
        <p15:guide id="4" orient="horz" pos="282">
          <p15:clr>
            <a:srgbClr val="F26B43"/>
          </p15:clr>
        </p15:guide>
        <p15:guide id="5" pos="340">
          <p15:clr>
            <a:srgbClr val="F26B43"/>
          </p15:clr>
        </p15:guide>
        <p15:guide id="6" orient="horz" pos="463">
          <p15:clr>
            <a:srgbClr val="F26B43"/>
          </p15:clr>
        </p15:guide>
        <p15:guide id="7" orient="horz" pos="962">
          <p15:clr>
            <a:srgbClr val="F26B43"/>
          </p15:clr>
        </p15:guide>
        <p15:guide id="9" pos="54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 txBox="1">
            <a:spLocks/>
          </p:cNvSpPr>
          <p:nvPr userDrawn="1"/>
        </p:nvSpPr>
        <p:spPr>
          <a:xfrm>
            <a:off x="545880" y="1191497"/>
            <a:ext cx="7772400" cy="73704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400"/>
              </a:lnSpc>
            </a:pPr>
            <a:endParaRPr lang="de-DE" sz="3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48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6241" y="4888800"/>
            <a:ext cx="5647288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84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idx="1"/>
          </p:nvPr>
        </p:nvSpPr>
        <p:spPr>
          <a:xfrm>
            <a:off x="539748" y="1635124"/>
            <a:ext cx="8064502" cy="28771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47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67" r:id="rId3"/>
    <p:sldLayoutId id="2147483768" r:id="rId4"/>
    <p:sldLayoutId id="2147483775" r:id="rId5"/>
    <p:sldLayoutId id="2147483776" r:id="rId6"/>
    <p:sldLayoutId id="2147483777" r:id="rId7"/>
    <p:sldLayoutId id="2147483778" r:id="rId8"/>
    <p:sldLayoutId id="2147483732" r:id="rId9"/>
    <p:sldLayoutId id="2147483733" r:id="rId10"/>
    <p:sldLayoutId id="2147483779" r:id="rId11"/>
    <p:sldLayoutId id="2147483780" r:id="rId12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5688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532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1376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4220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064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9908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752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3696" userDrawn="1">
          <p15:clr>
            <a:srgbClr val="F26B43"/>
          </p15:clr>
        </p15:guide>
        <p15:guide id="12" pos="3787" userDrawn="1">
          <p15:clr>
            <a:srgbClr val="F26B43"/>
          </p15:clr>
        </p15:guide>
        <p15:guide id="13" pos="4558" userDrawn="1">
          <p15:clr>
            <a:srgbClr val="F26B43"/>
          </p15:clr>
        </p15:guide>
        <p15:guide id="14" pos="4649" userDrawn="1">
          <p15:clr>
            <a:srgbClr val="F26B43"/>
          </p15:clr>
        </p15:guide>
        <p15:guide id="15" pos="1111" userDrawn="1">
          <p15:clr>
            <a:srgbClr val="F26B43"/>
          </p15:clr>
        </p15:guide>
        <p15:guide id="16" pos="1202" userDrawn="1">
          <p15:clr>
            <a:srgbClr val="F26B43"/>
          </p15:clr>
        </p15:guide>
        <p15:guide id="17" pos="1973" userDrawn="1">
          <p15:clr>
            <a:srgbClr val="F26B43"/>
          </p15:clr>
        </p15:guide>
        <p15:guide id="18" pos="2073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45880" y="1635124"/>
            <a:ext cx="8064502" cy="28813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E585E0A-E625-49EF-BE2B-9D8025621D23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5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69" r:id="rId3"/>
    <p:sldLayoutId id="2147483770" r:id="rId4"/>
    <p:sldLayoutId id="2147483722" r:id="rId5"/>
    <p:sldLayoutId id="2147483723" r:id="rId6"/>
    <p:sldLayoutId id="2147483781" r:id="rId7"/>
    <p:sldLayoutId id="2147483782" r:id="rId8"/>
    <p:sldLayoutId id="2147483727" r:id="rId9"/>
    <p:sldLayoutId id="2147483726" r:id="rId10"/>
    <p:sldLayoutId id="2147483773" r:id="rId11"/>
    <p:sldLayoutId id="2147483774" r:id="rId12"/>
    <p:sldLayoutId id="2147483734" r:id="rId13"/>
    <p:sldLayoutId id="2147483735" r:id="rId14"/>
    <p:sldLayoutId id="2147483793" r:id="rId15"/>
    <p:sldLayoutId id="2147483794" r:id="rId16"/>
    <p:sldLayoutId id="2147483795" r:id="rId17"/>
    <p:sldLayoutId id="2147483796" r:id="rId18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5688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8532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11376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4220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7064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908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752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96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4"/>
            <a:ext cx="8064502" cy="6148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33" name="Textplatzhalter 1">
            <a:extLst>
              <a:ext uri="{FF2B5EF4-FFF2-40B4-BE49-F238E27FC236}">
                <a16:creationId xmlns:a16="http://schemas.microsoft.com/office/drawing/2014/main" id="{B6D1D810-393C-4515-AAB2-0AD713BE6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501512F-4CFE-4BAF-A212-E97E0C88AD3E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55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7" r:id="rId7"/>
    <p:sldLayoutId id="2147483798" r:id="rId8"/>
    <p:sldLayoutId id="2147483711" r:id="rId9"/>
    <p:sldLayoutId id="2147483719" r:id="rId10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98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96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94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792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990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1188000" indent="-198000" algn="l" defTabSz="914400" rtl="0" eaLnBrk="1" latinLnBrk="0" hangingPunct="1">
        <a:lnSpc>
          <a:spcPts val="14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86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58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5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386F8C9-4864-4E81-9BE8-0D2DB59548C9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68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83" r:id="rId3"/>
    <p:sldLayoutId id="2147483784" r:id="rId4"/>
    <p:sldLayoutId id="2147483785" r:id="rId5"/>
    <p:sldLayoutId id="2147483786" r:id="rId6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728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456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184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6912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8640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0368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2096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3824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5552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849" userDrawn="1">
          <p15:clr>
            <a:srgbClr val="F26B43"/>
          </p15:clr>
        </p15:guide>
        <p15:guide id="7" orient="horz" pos="1030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26A9685-67C0-4A82-8CB8-BA2CDDC5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99" y="1028349"/>
            <a:ext cx="8515040" cy="779709"/>
          </a:xfrm>
        </p:spPr>
        <p:txBody>
          <a:bodyPr/>
          <a:lstStyle/>
          <a:p>
            <a:r>
              <a:rPr lang="de-CH" dirty="0"/>
              <a:t>Zusammenarbeit Adipositasbereich UDEM &amp; UVCM</a:t>
            </a:r>
            <a:br>
              <a:rPr lang="de-CH" dirty="0"/>
            </a:br>
            <a:r>
              <a:rPr lang="de-CH" sz="2200" dirty="0"/>
              <a:t>Diskussionsgrundlage zu Zuweisung, Auftritt und Plattform</a:t>
            </a:r>
            <a:br>
              <a:rPr lang="de-CH" dirty="0"/>
            </a:br>
            <a:br>
              <a:rPr lang="de-CH" dirty="0"/>
            </a:br>
            <a:br>
              <a:rPr lang="de-CH" sz="1200" dirty="0"/>
            </a:br>
            <a:endParaRPr lang="de-CH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9C8DE-0969-45D3-3607-767F521DFE17}"/>
              </a:ext>
            </a:extLst>
          </p:cNvPr>
          <p:cNvSpPr txBox="1"/>
          <p:nvPr/>
        </p:nvSpPr>
        <p:spPr>
          <a:xfrm>
            <a:off x="376199" y="2062075"/>
            <a:ext cx="6139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400" dirty="0"/>
              <a:t>27.10.2026 – Prof. Dr. med. Christoph Stettler, Klinikdirektor UDEM</a:t>
            </a:r>
          </a:p>
        </p:txBody>
      </p:sp>
      <p:sp>
        <p:nvSpPr>
          <p:cNvPr id="7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310943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Adipositas-Sprechstunde an der UDEM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180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 dirty="0" err="1">
                <a:solidFill>
                  <a:srgbClr val="677078"/>
                </a:solidFill>
              </a:rPr>
              <a:t>Strukturierter Behandlungspfad – über 1’000 Kontakte pro Monat</a:t>
            </a:r>
            <a:endParaRPr sz="1170" b="0" i="0" dirty="0">
              <a:solidFill>
                <a:srgbClr val="677078"/>
              </a:solidFill>
            </a:endParaRP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627632"/>
            <a:ext cx="8046720" cy="86868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1627632"/>
            <a:ext cx="80467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176479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C1B"/>
                </a:solidFill>
              </a:rPr>
              <a:t>≈ 300</a:t>
            </a:r>
            <a:r>
              <a:rPr sz="1000" b="0" i="0">
                <a:solidFill>
                  <a:srgbClr val="677078"/>
                </a:solidFill>
              </a:rPr>
              <a:t> / Monat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2395728" y="2048256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96896" y="2029968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1828800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Ärztliche Konsultationen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2103120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743200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BEHANDLUNGSPFAD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171C1B"/>
                </a:solidFill>
              </a:rPr>
              <a:t>Assessment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744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Erstkonsultation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139696" y="3346703"/>
            <a:ext cx="201168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93192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171C1B"/>
                </a:solidFill>
              </a:rPr>
              <a:t>Verlaufskontrolle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694176" y="3346703"/>
            <a:ext cx="201168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48640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171C1B"/>
                </a:solidFill>
              </a:rPr>
              <a:t>Assessment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48656" y="3346703"/>
            <a:ext cx="201168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04088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Jahreskontrolle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03136" y="3346703"/>
            <a:ext cx="201168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22960" y="3776472"/>
            <a:ext cx="2834640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2960" y="3831335"/>
            <a:ext cx="283463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Einstieg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80960" y="3675887"/>
            <a:ext cx="0" cy="210313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4572000" y="3886200"/>
            <a:ext cx="3108960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572000" y="3685031"/>
            <a:ext cx="0" cy="201169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114800" y="3941063"/>
            <a:ext cx="40233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jährlich wiederkehrend bis Behandlungsschluss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Qualitätssicherung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Qualitätssicherung an der UDEM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Zertifizierungen und Real-World-Daten der UDEM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ZERTIFIZIERUNGEN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874519"/>
            <a:ext cx="3840480" cy="93268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11680"/>
            <a:ext cx="1691640" cy="346017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578608" y="2011680"/>
            <a:ext cx="0" cy="65836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15768" y="2011680"/>
            <a:ext cx="1600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EASO COMs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Zertifiziert durch die European Association for the Study of Obesity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38404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3008376"/>
            <a:ext cx="3566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Swiss Medical Obesity Center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Anerkennung als medizinisches Adipositaszentrum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645920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 dirty="0">
                <a:solidFill>
                  <a:srgbClr val="009670"/>
                </a:solidFill>
              </a:rPr>
              <a:t>QUALITÄTSSICHERUNG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794760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48640" y="3794760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" y="379476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Zertifizierte Qualität und systematische Qualitätssicherung als Basis für den gemeinsamen Auftritt.</a:t>
            </a:r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852971BB-6411-5B24-3714-1E41A6CB18F2}"/>
              </a:ext>
            </a:extLst>
          </p:cNvPr>
          <p:cNvSpPr/>
          <p:nvPr/>
        </p:nvSpPr>
        <p:spPr>
          <a:xfrm>
            <a:off x="4690946" y="1461795"/>
            <a:ext cx="3918704" cy="2150085"/>
          </a:xfrm>
          <a:prstGeom prst="rect">
            <a:avLst/>
          </a:prstGeom>
          <a:noFill/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2D793858-C38A-41FD-8004-0260F9135A35}"/>
              </a:ext>
            </a:extLst>
          </p:cNvPr>
          <p:cNvSpPr txBox="1"/>
          <p:nvPr/>
        </p:nvSpPr>
        <p:spPr>
          <a:xfrm>
            <a:off x="4933762" y="1958061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200" b="1" i="0">
                <a:solidFill>
                  <a:srgbClr val="171C1B"/>
                </a:solidFill>
              </a:rPr>
              <a:t>Swiss Obesity Study (SOS)</a:t>
            </a:r>
          </a:p>
        </p:txBody>
      </p:sp>
      <p:sp>
        <p:nvSpPr>
          <p:cNvPr id="7" name="TextBox 31">
            <a:extLst>
              <a:ext uri="{FF2B5EF4-FFF2-40B4-BE49-F238E27FC236}">
                <a16:creationId xmlns:a16="http://schemas.microsoft.com/office/drawing/2014/main" id="{EAD5D6BC-1EBA-7B00-21FF-2137458A1D90}"/>
              </a:ext>
            </a:extLst>
          </p:cNvPr>
          <p:cNvSpPr txBox="1"/>
          <p:nvPr/>
        </p:nvSpPr>
        <p:spPr>
          <a:xfrm>
            <a:off x="4933762" y="2233130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 i="0" dirty="0" err="1">
                <a:solidFill>
                  <a:srgbClr val="677078"/>
                </a:solidFill>
              </a:rPr>
              <a:t>Longitudinale</a:t>
            </a:r>
            <a:r>
              <a:rPr sz="850" b="0" i="0" dirty="0">
                <a:solidFill>
                  <a:srgbClr val="677078"/>
                </a:solidFill>
              </a:rPr>
              <a:t> Real-World-</a:t>
            </a:r>
            <a:r>
              <a:rPr sz="850" b="0" i="0" dirty="0" err="1">
                <a:solidFill>
                  <a:srgbClr val="677078"/>
                </a:solidFill>
              </a:rPr>
              <a:t>Daten</a:t>
            </a:r>
            <a:r>
              <a:rPr sz="850" b="0" i="0" dirty="0">
                <a:solidFill>
                  <a:srgbClr val="677078"/>
                </a:solidFill>
              </a:rPr>
              <a:t> </a:t>
            </a:r>
            <a:r>
              <a:rPr sz="850" b="0" i="0" dirty="0" err="1">
                <a:solidFill>
                  <a:srgbClr val="677078"/>
                </a:solidFill>
              </a:rPr>
              <a:t>zur</a:t>
            </a:r>
            <a:r>
              <a:rPr sz="850" b="0" i="0" dirty="0">
                <a:solidFill>
                  <a:srgbClr val="677078"/>
                </a:solidFill>
              </a:rPr>
              <a:t> </a:t>
            </a:r>
            <a:r>
              <a:rPr sz="850" b="0" i="0" dirty="0" err="1">
                <a:solidFill>
                  <a:srgbClr val="677078"/>
                </a:solidFill>
              </a:rPr>
              <a:t>Adipositasversorgung</a:t>
            </a:r>
            <a:r>
              <a:rPr sz="850" b="0" i="0" dirty="0">
                <a:solidFill>
                  <a:srgbClr val="677078"/>
                </a:solidFill>
              </a:rPr>
              <a:t> in der Schweiz</a:t>
            </a:r>
          </a:p>
        </p:txBody>
      </p:sp>
      <p:sp>
        <p:nvSpPr>
          <p:cNvPr id="8" name="TextBox 32">
            <a:extLst>
              <a:ext uri="{FF2B5EF4-FFF2-40B4-BE49-F238E27FC236}">
                <a16:creationId xmlns:a16="http://schemas.microsoft.com/office/drawing/2014/main" id="{AEF798BE-B039-49F2-1C02-1B070045B697}"/>
              </a:ext>
            </a:extLst>
          </p:cNvPr>
          <p:cNvSpPr txBox="1"/>
          <p:nvPr/>
        </p:nvSpPr>
        <p:spPr>
          <a:xfrm>
            <a:off x="4933762" y="251053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i="0">
                <a:solidFill>
                  <a:srgbClr val="171C1B"/>
                </a:solidFill>
              </a:rPr>
              <a:t>≈ 2'500</a:t>
            </a:r>
          </a:p>
        </p:txBody>
      </p:sp>
      <p:sp>
        <p:nvSpPr>
          <p:cNvPr id="9" name="TextBox 33">
            <a:extLst>
              <a:ext uri="{FF2B5EF4-FFF2-40B4-BE49-F238E27FC236}">
                <a16:creationId xmlns:a16="http://schemas.microsoft.com/office/drawing/2014/main" id="{AC59C8DD-5E8B-FAB2-4EA6-2DB4406EE753}"/>
              </a:ext>
            </a:extLst>
          </p:cNvPr>
          <p:cNvSpPr txBox="1"/>
          <p:nvPr/>
        </p:nvSpPr>
        <p:spPr>
          <a:xfrm>
            <a:off x="4933762" y="2784850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 i="0" dirty="0" err="1">
                <a:solidFill>
                  <a:srgbClr val="677078"/>
                </a:solidFill>
              </a:rPr>
              <a:t>Teilnehmende</a:t>
            </a:r>
            <a:r>
              <a:rPr sz="850" b="0" i="0" dirty="0">
                <a:solidFill>
                  <a:srgbClr val="677078"/>
                </a:solidFill>
              </a:rPr>
              <a:t> </a:t>
            </a:r>
            <a:r>
              <a:rPr sz="850" b="0" i="0" dirty="0" err="1">
                <a:solidFill>
                  <a:srgbClr val="677078"/>
                </a:solidFill>
              </a:rPr>
              <a:t>seit</a:t>
            </a:r>
            <a:r>
              <a:rPr sz="850" b="0" i="0" dirty="0">
                <a:solidFill>
                  <a:srgbClr val="677078"/>
                </a:solidFill>
              </a:rPr>
              <a:t> 2025</a:t>
            </a:r>
          </a:p>
        </p:txBody>
      </p:sp>
      <p:sp>
        <p:nvSpPr>
          <p:cNvPr id="10" name="TextBox 34">
            <a:extLst>
              <a:ext uri="{FF2B5EF4-FFF2-40B4-BE49-F238E27FC236}">
                <a16:creationId xmlns:a16="http://schemas.microsoft.com/office/drawing/2014/main" id="{BD2F69AA-001C-5719-CB94-AE5856B1D191}"/>
              </a:ext>
            </a:extLst>
          </p:cNvPr>
          <p:cNvSpPr txBox="1"/>
          <p:nvPr/>
        </p:nvSpPr>
        <p:spPr>
          <a:xfrm>
            <a:off x="6689410" y="251053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i="0">
                <a:solidFill>
                  <a:srgbClr val="171C1B"/>
                </a:solidFill>
              </a:rPr>
              <a:t>10 Jahre</a:t>
            </a:r>
          </a:p>
        </p:txBody>
      </p:sp>
      <p:sp>
        <p:nvSpPr>
          <p:cNvPr id="11" name="TextBox 35">
            <a:extLst>
              <a:ext uri="{FF2B5EF4-FFF2-40B4-BE49-F238E27FC236}">
                <a16:creationId xmlns:a16="http://schemas.microsoft.com/office/drawing/2014/main" id="{81D15E45-762C-8259-50CC-A086D6926A59}"/>
              </a:ext>
            </a:extLst>
          </p:cNvPr>
          <p:cNvSpPr txBox="1"/>
          <p:nvPr/>
        </p:nvSpPr>
        <p:spPr>
          <a:xfrm>
            <a:off x="6689410" y="2784850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 i="0">
                <a:solidFill>
                  <a:srgbClr val="677078"/>
                </a:solidFill>
              </a:rPr>
              <a:t>Follow-up</a:t>
            </a:r>
          </a:p>
        </p:txBody>
      </p:sp>
      <p:cxnSp>
        <p:nvCxnSpPr>
          <p:cNvPr id="12" name="Connector 36">
            <a:extLst>
              <a:ext uri="{FF2B5EF4-FFF2-40B4-BE49-F238E27FC236}">
                <a16:creationId xmlns:a16="http://schemas.microsoft.com/office/drawing/2014/main" id="{1D7B9837-7169-A5BE-CE1C-F50EBF4A9148}"/>
              </a:ext>
            </a:extLst>
          </p:cNvPr>
          <p:cNvCxnSpPr/>
          <p:nvPr/>
        </p:nvCxnSpPr>
        <p:spPr>
          <a:xfrm>
            <a:off x="6552250" y="2547106"/>
            <a:ext cx="0" cy="38404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37">
            <a:extLst>
              <a:ext uri="{FF2B5EF4-FFF2-40B4-BE49-F238E27FC236}">
                <a16:creationId xmlns:a16="http://schemas.microsoft.com/office/drawing/2014/main" id="{C57825D4-033C-7115-AB77-C16C6B6498AC}"/>
              </a:ext>
            </a:extLst>
          </p:cNvPr>
          <p:cNvSpPr txBox="1"/>
          <p:nvPr/>
        </p:nvSpPr>
        <p:spPr>
          <a:xfrm>
            <a:off x="4933762" y="3059170"/>
            <a:ext cx="35661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00" b="1" i="0" dirty="0" err="1">
                <a:solidFill>
                  <a:srgbClr val="171C1B"/>
                </a:solidFill>
              </a:rPr>
              <a:t>Ziel</a:t>
            </a:r>
            <a:r>
              <a:rPr sz="900" b="1" i="0" dirty="0">
                <a:solidFill>
                  <a:srgbClr val="171C1B"/>
                </a:solidFill>
              </a:rPr>
              <a:t>: </a:t>
            </a:r>
            <a:r>
              <a:rPr sz="900" b="0" i="0" dirty="0" err="1">
                <a:solidFill>
                  <a:srgbClr val="171C1B"/>
                </a:solidFill>
              </a:rPr>
              <a:t>Auswirkungen</a:t>
            </a:r>
            <a:r>
              <a:rPr sz="900" b="0" i="0" dirty="0">
                <a:solidFill>
                  <a:srgbClr val="171C1B"/>
                </a:solidFill>
              </a:rPr>
              <a:t> der </a:t>
            </a:r>
            <a:r>
              <a:rPr sz="900" b="0" i="0" dirty="0" err="1">
                <a:solidFill>
                  <a:srgbClr val="171C1B"/>
                </a:solidFill>
              </a:rPr>
              <a:t>sich</a:t>
            </a:r>
            <a:r>
              <a:rPr sz="900" b="0" i="0" dirty="0">
                <a:solidFill>
                  <a:srgbClr val="171C1B"/>
                </a:solidFill>
              </a:rPr>
              <a:t> </a:t>
            </a:r>
            <a:r>
              <a:rPr sz="900" b="0" i="0" dirty="0" err="1">
                <a:solidFill>
                  <a:srgbClr val="171C1B"/>
                </a:solidFill>
              </a:rPr>
              <a:t>wandelnden</a:t>
            </a:r>
            <a:r>
              <a:rPr sz="900" b="0" i="0" dirty="0">
                <a:solidFill>
                  <a:srgbClr val="171C1B"/>
                </a:solidFill>
              </a:rPr>
              <a:t> </a:t>
            </a:r>
            <a:r>
              <a:rPr sz="900" b="0" i="0" dirty="0" err="1">
                <a:solidFill>
                  <a:srgbClr val="171C1B"/>
                </a:solidFill>
              </a:rPr>
              <a:t>Adipositastherapie</a:t>
            </a:r>
            <a:r>
              <a:rPr sz="900" b="0" i="0" dirty="0">
                <a:solidFill>
                  <a:srgbClr val="171C1B"/>
                </a:solidFill>
              </a:rPr>
              <a:t> auf </a:t>
            </a:r>
            <a:r>
              <a:rPr sz="900" b="0" i="0" dirty="0" err="1">
                <a:solidFill>
                  <a:srgbClr val="171C1B"/>
                </a:solidFill>
              </a:rPr>
              <a:t>Gesundheitsoutcomes</a:t>
            </a:r>
            <a:r>
              <a:rPr sz="900" b="0" i="0" dirty="0">
                <a:solidFill>
                  <a:srgbClr val="171C1B"/>
                </a:solidFill>
              </a:rPr>
              <a:t> und </a:t>
            </a:r>
            <a:r>
              <a:rPr sz="900" b="0" i="0" dirty="0" err="1">
                <a:solidFill>
                  <a:srgbClr val="171C1B"/>
                </a:solidFill>
              </a:rPr>
              <a:t>Lebensstil</a:t>
            </a:r>
            <a:r>
              <a:rPr sz="900" b="0" i="0" dirty="0">
                <a:solidFill>
                  <a:srgbClr val="171C1B"/>
                </a:solidFill>
              </a:rPr>
              <a:t> </a:t>
            </a:r>
            <a:r>
              <a:rPr sz="900" b="0" i="0" dirty="0" err="1">
                <a:solidFill>
                  <a:srgbClr val="171C1B"/>
                </a:solidFill>
              </a:rPr>
              <a:t>evaluieren</a:t>
            </a:r>
            <a:endParaRPr sz="900" b="0" i="0" dirty="0">
              <a:solidFill>
                <a:srgbClr val="171C1B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FCEEE8D-3A20-6160-CDA7-C136126AD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5744" y="1515128"/>
            <a:ext cx="849888" cy="60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Adipositas-Sprechstunden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lang="de-CH" sz="2150" b="1" i="0" dirty="0">
                <a:solidFill>
                  <a:srgbClr val="171C1B"/>
                </a:solidFill>
              </a:rPr>
              <a:t>am Inselspital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Ärztliche Termine mit Adipositas pro Monat – UDEM und Viszerale Chirurgie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ÄRZTLICHE TERMINE PRO MONAT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011680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194560"/>
            <a:ext cx="1508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1993392"/>
            <a:ext cx="2414016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93776" y="2063941"/>
            <a:ext cx="995544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171C1B"/>
                </a:solidFill>
              </a:rPr>
              <a:t>≈ 300</a:t>
            </a:r>
            <a:r>
              <a:rPr lang="de-CH" sz="1500" b="1" dirty="0">
                <a:solidFill>
                  <a:srgbClr val="171C1B"/>
                </a:solidFill>
              </a:rPr>
              <a:t> + 50</a:t>
            </a:r>
            <a:endParaRPr sz="1500" b="1" i="0" dirty="0">
              <a:solidFill>
                <a:srgbClr val="171C1B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48640" y="2752344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Viszerale Chirurgie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935224"/>
            <a:ext cx="1508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UVCM · Besuchsgrund Adipositas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90241" y="2734056"/>
            <a:ext cx="804671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86353" y="27889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130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148840" y="1920240"/>
            <a:ext cx="0" cy="1188720"/>
          </a:xfrm>
          <a:prstGeom prst="line">
            <a:avLst/>
          </a:prstGeom>
          <a:ln w="12700">
            <a:solidFill>
              <a:srgbClr val="67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48640" y="3639312"/>
            <a:ext cx="8046720" cy="5029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3639312"/>
            <a:ext cx="36576" cy="5029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3794592"/>
            <a:ext cx="77724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 dirty="0" err="1">
                <a:solidFill>
                  <a:srgbClr val="171C1B"/>
                </a:solidFill>
              </a:rPr>
              <a:t>Zusammen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rund</a:t>
            </a:r>
            <a:r>
              <a:rPr sz="1250" b="0" i="0" dirty="0">
                <a:solidFill>
                  <a:srgbClr val="171C1B"/>
                </a:solidFill>
              </a:rPr>
              <a:t> 4</a:t>
            </a:r>
            <a:r>
              <a:rPr lang="de-CH" sz="1250" b="0" i="0" dirty="0">
                <a:solidFill>
                  <a:srgbClr val="171C1B"/>
                </a:solidFill>
              </a:rPr>
              <a:t>8</a:t>
            </a:r>
            <a:r>
              <a:rPr sz="1250" b="0" i="0" dirty="0">
                <a:solidFill>
                  <a:srgbClr val="171C1B"/>
                </a:solidFill>
              </a:rPr>
              <a:t>0 </a:t>
            </a:r>
            <a:r>
              <a:rPr sz="1250" b="0" i="0" dirty="0" err="1">
                <a:solidFill>
                  <a:srgbClr val="171C1B"/>
                </a:solidFill>
              </a:rPr>
              <a:t>ärztliche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Adipositas-Termine</a:t>
            </a:r>
            <a:r>
              <a:rPr sz="1250" b="0" i="0" dirty="0">
                <a:solidFill>
                  <a:srgbClr val="171C1B"/>
                </a:solidFill>
              </a:rPr>
              <a:t> pro Monat</a:t>
            </a:r>
            <a:r>
              <a:rPr lang="de-CH" sz="1250" b="0" i="0" dirty="0">
                <a:solidFill>
                  <a:srgbClr val="171C1B"/>
                </a:solidFill>
              </a:rPr>
              <a:t>: </a:t>
            </a:r>
            <a:r>
              <a:rPr sz="1250" b="0" i="0" dirty="0" err="1">
                <a:solidFill>
                  <a:srgbClr val="171C1B"/>
                </a:solidFill>
              </a:rPr>
              <a:t>ein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abgestimmter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Pfad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nützt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beiden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Kliniken</a:t>
            </a:r>
            <a:r>
              <a:rPr sz="1250" b="0" i="0" dirty="0">
                <a:solidFill>
                  <a:srgbClr val="171C1B"/>
                </a:solidFill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690" y="4542412"/>
            <a:ext cx="804672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 err="1">
                <a:solidFill>
                  <a:srgbClr val="677078"/>
                </a:solidFill>
              </a:rPr>
              <a:t>Viszerale</a:t>
            </a:r>
            <a:r>
              <a:rPr sz="800" b="0" i="0" dirty="0">
                <a:solidFill>
                  <a:srgbClr val="677078"/>
                </a:solidFill>
              </a:rPr>
              <a:t> </a:t>
            </a:r>
            <a:r>
              <a:rPr sz="800" b="0" i="0" dirty="0" err="1">
                <a:solidFill>
                  <a:srgbClr val="677078"/>
                </a:solidFill>
              </a:rPr>
              <a:t>Chirurgie</a:t>
            </a:r>
            <a:r>
              <a:rPr sz="800" b="0" i="0" dirty="0">
                <a:solidFill>
                  <a:srgbClr val="677078"/>
                </a:solidFill>
              </a:rPr>
              <a:t>: </a:t>
            </a:r>
            <a:r>
              <a:rPr sz="800" b="0" i="0" dirty="0" err="1">
                <a:solidFill>
                  <a:srgbClr val="677078"/>
                </a:solidFill>
              </a:rPr>
              <a:t>ärztliche</a:t>
            </a:r>
            <a:r>
              <a:rPr sz="800" b="0" i="0" dirty="0">
                <a:solidFill>
                  <a:srgbClr val="677078"/>
                </a:solidFill>
              </a:rPr>
              <a:t> </a:t>
            </a:r>
            <a:r>
              <a:rPr sz="800" b="0" i="0" dirty="0" err="1">
                <a:solidFill>
                  <a:srgbClr val="677078"/>
                </a:solidFill>
              </a:rPr>
              <a:t>Termine</a:t>
            </a:r>
            <a:r>
              <a:rPr sz="800" b="0" i="0" dirty="0">
                <a:solidFill>
                  <a:srgbClr val="677078"/>
                </a:solidFill>
              </a:rPr>
              <a:t> </a:t>
            </a:r>
            <a:r>
              <a:rPr sz="800" b="0" i="0" dirty="0" err="1">
                <a:solidFill>
                  <a:srgbClr val="677078"/>
                </a:solidFill>
              </a:rPr>
              <a:t>mit</a:t>
            </a:r>
            <a:r>
              <a:rPr sz="800" b="0" i="0" dirty="0">
                <a:solidFill>
                  <a:srgbClr val="677078"/>
                </a:solidFill>
              </a:rPr>
              <a:t> </a:t>
            </a:r>
            <a:r>
              <a:rPr sz="800" b="0" i="0" dirty="0" err="1">
                <a:solidFill>
                  <a:srgbClr val="677078"/>
                </a:solidFill>
              </a:rPr>
              <a:t>Besuchsgrund</a:t>
            </a:r>
            <a:r>
              <a:rPr sz="800" b="0" i="0" dirty="0">
                <a:solidFill>
                  <a:srgbClr val="677078"/>
                </a:solidFill>
              </a:rPr>
              <a:t> «</a:t>
            </a:r>
            <a:r>
              <a:rPr sz="800" b="0" i="0" dirty="0" err="1">
                <a:solidFill>
                  <a:srgbClr val="677078"/>
                </a:solidFill>
              </a:rPr>
              <a:t>Adipositas</a:t>
            </a:r>
            <a:r>
              <a:rPr sz="800" b="0" i="0" dirty="0">
                <a:solidFill>
                  <a:srgbClr val="677078"/>
                </a:solidFill>
              </a:rPr>
              <a:t>», </a:t>
            </a:r>
            <a:r>
              <a:rPr sz="800" b="0" i="0" dirty="0" err="1">
                <a:solidFill>
                  <a:srgbClr val="677078"/>
                </a:solidFill>
              </a:rPr>
              <a:t>Monatsdurchschnitt</a:t>
            </a:r>
            <a:r>
              <a:rPr sz="800" b="0" i="0" dirty="0">
                <a:solidFill>
                  <a:srgbClr val="677078"/>
                </a:solidFill>
              </a:rPr>
              <a:t> 1.4.–1.10.2026. 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D70B5829-837F-02C9-9FD8-FEF232C81D52}"/>
              </a:ext>
            </a:extLst>
          </p:cNvPr>
          <p:cNvSpPr/>
          <p:nvPr/>
        </p:nvSpPr>
        <p:spPr>
          <a:xfrm>
            <a:off x="4586050" y="1993392"/>
            <a:ext cx="356615" cy="384048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32">
            <a:extLst>
              <a:ext uri="{FF2B5EF4-FFF2-40B4-BE49-F238E27FC236}">
                <a16:creationId xmlns:a16="http://schemas.microsoft.com/office/drawing/2014/main" id="{BB8504C1-3838-99B9-8513-1FFD0A41ED15}"/>
              </a:ext>
            </a:extLst>
          </p:cNvPr>
          <p:cNvCxnSpPr/>
          <p:nvPr/>
        </p:nvCxnSpPr>
        <p:spPr>
          <a:xfrm flipV="1">
            <a:off x="3118305" y="2654046"/>
            <a:ext cx="0" cy="164592"/>
          </a:xfrm>
          <a:prstGeom prst="line">
            <a:avLst/>
          </a:prstGeom>
          <a:ln w="15875">
            <a:solidFill>
              <a:srgbClr val="0096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33">
            <a:extLst>
              <a:ext uri="{FF2B5EF4-FFF2-40B4-BE49-F238E27FC236}">
                <a16:creationId xmlns:a16="http://schemas.microsoft.com/office/drawing/2014/main" id="{950ED7BC-B42B-0ED1-540F-6C80C9AB38A4}"/>
              </a:ext>
            </a:extLst>
          </p:cNvPr>
          <p:cNvCxnSpPr/>
          <p:nvPr/>
        </p:nvCxnSpPr>
        <p:spPr>
          <a:xfrm>
            <a:off x="3118305" y="2654046"/>
            <a:ext cx="1591970" cy="0"/>
          </a:xfrm>
          <a:prstGeom prst="line">
            <a:avLst/>
          </a:prstGeom>
          <a:ln w="15875">
            <a:solidFill>
              <a:srgbClr val="0096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34">
            <a:extLst>
              <a:ext uri="{FF2B5EF4-FFF2-40B4-BE49-F238E27FC236}">
                <a16:creationId xmlns:a16="http://schemas.microsoft.com/office/drawing/2014/main" id="{7CE8D452-789C-1206-4A64-FFFB1BD63B25}"/>
              </a:ext>
            </a:extLst>
          </p:cNvPr>
          <p:cNvCxnSpPr>
            <a:cxnSpLocks/>
          </p:cNvCxnSpPr>
          <p:nvPr/>
        </p:nvCxnSpPr>
        <p:spPr>
          <a:xfrm flipV="1">
            <a:off x="4710275" y="2416302"/>
            <a:ext cx="0" cy="237744"/>
          </a:xfrm>
          <a:prstGeom prst="line">
            <a:avLst/>
          </a:prstGeom>
          <a:ln w="15875">
            <a:solidFill>
              <a:srgbClr val="009670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37">
            <a:extLst>
              <a:ext uri="{FF2B5EF4-FFF2-40B4-BE49-F238E27FC236}">
                <a16:creationId xmlns:a16="http://schemas.microsoft.com/office/drawing/2014/main" id="{FFFDCF31-65E6-9C3B-C2B3-075BFF0DB59E}"/>
              </a:ext>
            </a:extLst>
          </p:cNvPr>
          <p:cNvSpPr txBox="1"/>
          <p:nvPr/>
        </p:nvSpPr>
        <p:spPr>
          <a:xfrm>
            <a:off x="2696366" y="2482553"/>
            <a:ext cx="347472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dirty="0">
                <a:solidFill>
                  <a:srgbClr val="171C1B"/>
                </a:solidFill>
              </a:rPr>
              <a:t>≈ 50 </a:t>
            </a:r>
            <a:r>
              <a:rPr sz="800" b="1" i="0" dirty="0" err="1">
                <a:solidFill>
                  <a:srgbClr val="171C1B"/>
                </a:solidFill>
              </a:rPr>
              <a:t>postbariatrische</a:t>
            </a:r>
            <a:r>
              <a:rPr sz="800" b="1" i="0" dirty="0">
                <a:solidFill>
                  <a:srgbClr val="171C1B"/>
                </a:solidFill>
              </a:rPr>
              <a:t> </a:t>
            </a:r>
            <a:r>
              <a:rPr sz="800" b="1" i="0" dirty="0" err="1">
                <a:solidFill>
                  <a:srgbClr val="171C1B"/>
                </a:solidFill>
              </a:rPr>
              <a:t>Termine</a:t>
            </a:r>
            <a:r>
              <a:rPr sz="800" b="1" i="0" dirty="0">
                <a:solidFill>
                  <a:srgbClr val="171C1B"/>
                </a:solidFill>
              </a:rPr>
              <a:t> a</a:t>
            </a:r>
            <a:r>
              <a:rPr lang="de-CH" sz="800" b="1" i="0" dirty="0">
                <a:solidFill>
                  <a:srgbClr val="171C1B"/>
                </a:solidFill>
              </a:rPr>
              <a:t>n UDEM  </a:t>
            </a:r>
            <a:r>
              <a:rPr sz="800" b="0" i="0" dirty="0">
                <a:solidFill>
                  <a:srgbClr val="677078"/>
                </a:solidFill>
              </a:rPr>
              <a:t>· </a:t>
            </a:r>
            <a:r>
              <a:rPr sz="800" b="0" i="0" dirty="0" err="1">
                <a:solidFill>
                  <a:srgbClr val="677078"/>
                </a:solidFill>
              </a:rPr>
              <a:t>nach</a:t>
            </a:r>
            <a:r>
              <a:rPr sz="800" b="0" i="0" dirty="0">
                <a:solidFill>
                  <a:srgbClr val="677078"/>
                </a:solidFill>
              </a:rPr>
              <a:t> OP </a:t>
            </a:r>
            <a:r>
              <a:rPr sz="800" b="0" i="0" dirty="0" err="1">
                <a:solidFill>
                  <a:srgbClr val="677078"/>
                </a:solidFill>
              </a:rPr>
              <a:t>Viszeralchirurgie</a:t>
            </a:r>
            <a:endParaRPr sz="800" b="0" i="0" dirty="0">
              <a:solidFill>
                <a:srgbClr val="677078"/>
              </a:solidFill>
            </a:endParaRPr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9833CFC1-6948-DEDD-DFE7-6E5FF8203096}"/>
              </a:ext>
            </a:extLst>
          </p:cNvPr>
          <p:cNvSpPr/>
          <p:nvPr/>
        </p:nvSpPr>
        <p:spPr>
          <a:xfrm>
            <a:off x="6035040" y="1312915"/>
            <a:ext cx="2606040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39">
            <a:extLst>
              <a:ext uri="{FF2B5EF4-FFF2-40B4-BE49-F238E27FC236}">
                <a16:creationId xmlns:a16="http://schemas.microsoft.com/office/drawing/2014/main" id="{800F5571-A5D8-218C-003D-B9FAD1573F04}"/>
              </a:ext>
            </a:extLst>
          </p:cNvPr>
          <p:cNvSpPr/>
          <p:nvPr/>
        </p:nvSpPr>
        <p:spPr>
          <a:xfrm>
            <a:off x="6035040" y="1312915"/>
            <a:ext cx="36576" cy="21031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0">
            <a:extLst>
              <a:ext uri="{FF2B5EF4-FFF2-40B4-BE49-F238E27FC236}">
                <a16:creationId xmlns:a16="http://schemas.microsoft.com/office/drawing/2014/main" id="{51602A77-9DC2-D757-CF9E-78D38AC25EC0}"/>
              </a:ext>
            </a:extLst>
          </p:cNvPr>
          <p:cNvSpPr txBox="1"/>
          <p:nvPr/>
        </p:nvSpPr>
        <p:spPr>
          <a:xfrm>
            <a:off x="6217920" y="1440931"/>
            <a:ext cx="2286000" cy="1508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 dirty="0">
                <a:solidFill>
                  <a:srgbClr val="009670"/>
                </a:solidFill>
              </a:rPr>
              <a:t>GESAMTVOLUMEN UDEM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182880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71C1B"/>
                </a:solidFill>
              </a:rPr>
              <a:t>&gt; 1’000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245059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77078"/>
                </a:solidFill>
              </a:rPr>
              <a:t>Adipositas-Kontakte pro Monat,</a:t>
            </a:r>
          </a:p>
          <a:p>
            <a:pPr algn="l"/>
            <a:r>
              <a:rPr sz="1050" b="0" i="0">
                <a:solidFill>
                  <a:srgbClr val="677078"/>
                </a:solidFill>
              </a:rPr>
              <a:t>ärztlich und interprofessionell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48840" y="2734056"/>
            <a:ext cx="223113" cy="384048"/>
          </a:xfrm>
          <a:prstGeom prst="rect">
            <a:avLst/>
          </a:prstGeom>
          <a:pattFill prst="pct30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3310128"/>
            <a:ext cx="237744" cy="118872"/>
          </a:xfrm>
          <a:prstGeom prst="rect">
            <a:avLst/>
          </a:prstGeom>
          <a:pattFill prst="pct30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3291840"/>
            <a:ext cx="5120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71C1B"/>
                </a:solidFill>
              </a:rPr>
              <a:t>Teil der Termine durch UDEM-Assistenzärzt:innen geführt</a:t>
            </a:r>
            <a:r>
              <a:rPr sz="850" b="0" i="0">
                <a:solidFill>
                  <a:srgbClr val="677078"/>
                </a:solidFill>
              </a:rPr>
              <a:t> – UDEM-finanziert, Abrechnung UVCM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Zuweisungswege heute: drei Eingänge, zwei Zentren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12848"/>
            <a:ext cx="13258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171C1B"/>
                </a:solidFill>
              </a:rPr>
              <a:t>Zuweisende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Hausärzt:innen, Spitäler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813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zs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572768"/>
            <a:ext cx="2286000" cy="432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44768" y="20482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529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d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926080"/>
            <a:ext cx="1234440" cy="30120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44768" y="34198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UVCM · Viszerale Chirurgie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20840" y="2304288"/>
            <a:ext cx="0" cy="54864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12280" y="243230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C0503A"/>
                </a:solidFill>
              </a:rPr>
              <a:t>Weiterweisung</a:t>
            </a:r>
            <a:endParaRPr sz="950" b="1" i="0" dirty="0">
              <a:solidFill>
                <a:srgbClr val="C0503A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48640" y="3931920"/>
            <a:ext cx="36576" cy="7315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400507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9A4A38"/>
                </a:solidFill>
              </a:rPr>
              <a:t>WARTEZEIT BEI FEHLZUWEISUNG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443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7731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+ 1–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0" y="4148587"/>
            <a:ext cx="21031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dirty="0">
                <a:solidFill>
                  <a:srgbClr val="C0503A"/>
                </a:solidFill>
              </a:rPr>
              <a:t>= bis </a:t>
            </a:r>
            <a:r>
              <a:rPr sz="1700" b="1" i="0" dirty="0" err="1">
                <a:solidFill>
                  <a:srgbClr val="C0503A"/>
                </a:solidFill>
              </a:rPr>
              <a:t>zu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lang="de-CH" sz="1700" b="1" i="0" dirty="0">
                <a:solidFill>
                  <a:srgbClr val="C0503A"/>
                </a:solidFill>
              </a:rPr>
              <a:t>6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sz="1700" b="1" i="0" dirty="0" err="1">
                <a:solidFill>
                  <a:srgbClr val="C0503A"/>
                </a:solidFill>
              </a:rPr>
              <a:t>Monate</a:t>
            </a:r>
            <a:endParaRPr sz="1700" b="1" i="0" dirty="0">
              <a:solidFill>
                <a:srgbClr val="C0503A"/>
              </a:solidFill>
            </a:endParaRPr>
          </a:p>
        </p:txBody>
      </p:sp>
      <p:cxnSp>
        <p:nvCxnSpPr>
          <p:cNvPr id="6" name="Connector 46">
            <a:extLst>
              <a:ext uri="{FF2B5EF4-FFF2-40B4-BE49-F238E27FC236}">
                <a16:creationId xmlns:a16="http://schemas.microsoft.com/office/drawing/2014/main" id="{44B12EFF-16E5-EE50-296F-D35DE5D9872F}"/>
              </a:ext>
            </a:extLst>
          </p:cNvPr>
          <p:cNvCxnSpPr>
            <a:cxnSpLocks/>
          </p:cNvCxnSpPr>
          <p:nvPr/>
        </p:nvCxnSpPr>
        <p:spPr>
          <a:xfrm>
            <a:off x="7790613" y="2322575"/>
            <a:ext cx="0" cy="548641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46">
            <a:extLst>
              <a:ext uri="{FF2B5EF4-FFF2-40B4-BE49-F238E27FC236}">
                <a16:creationId xmlns:a16="http://schemas.microsoft.com/office/drawing/2014/main" id="{3C6A3ED9-C14A-5248-3A79-12C8B0A03FCA}"/>
              </a:ext>
            </a:extLst>
          </p:cNvPr>
          <p:cNvCxnSpPr>
            <a:cxnSpLocks/>
          </p:cNvCxnSpPr>
          <p:nvPr/>
        </p:nvCxnSpPr>
        <p:spPr>
          <a:xfrm>
            <a:off x="4375367" y="4279392"/>
            <a:ext cx="337882" cy="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874519" y="1993392"/>
            <a:ext cx="502921" cy="576072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874519" y="2569464"/>
            <a:ext cx="502921" cy="0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874519" y="2569464"/>
            <a:ext cx="502921" cy="576072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892040" y="1783080"/>
            <a:ext cx="1097280" cy="21031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892040" y="1993392"/>
            <a:ext cx="1097280" cy="102412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892040" y="1965960"/>
            <a:ext cx="1097280" cy="603504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892040" y="2569464"/>
            <a:ext cx="1097280" cy="649224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892040" y="3145536"/>
            <a:ext cx="1097280" cy="25603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892040" y="2157984"/>
            <a:ext cx="1097280" cy="987552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2377440" y="182880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InselLink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377440" y="2404872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UDEM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377440" y="2980944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UVCM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4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 animBg="1"/>
      <p:bldP spid="66" grpId="0" animBg="1"/>
      <p:bldP spid="67" grpId="0" animBg="1"/>
      <p:bldP spid="48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 Ziel: gebündelte Triage, klare Kriterien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677078"/>
                </a:solidFill>
              </a:rPr>
              <a:t>HEUTE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761488" y="2450592"/>
            <a:ext cx="384048" cy="310896"/>
          </a:xfrm>
          <a:prstGeom prst="rightArrow">
            <a:avLst/>
          </a:prstGeom>
          <a:solidFill>
            <a:srgbClr val="D5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0" y="1481328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ZIEL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2194560"/>
            <a:ext cx="1325880" cy="86868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Gebündelte Triage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nach definierten Kriterien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95160" y="2624328"/>
            <a:ext cx="274320" cy="0"/>
          </a:xfrm>
          <a:prstGeom prst="line">
            <a:avLst/>
          </a:prstGeom>
          <a:ln w="2222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269480" y="2103120"/>
            <a:ext cx="1325880" cy="1051560"/>
          </a:xfrm>
          <a:prstGeom prst="rect">
            <a:avLst/>
          </a:prstGeom>
          <a:solidFill>
            <a:srgbClr val="F0F6F3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171C1B"/>
                </a:solidFill>
              </a:rPr>
              <a:t>Richtiger Behandlungspfad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ab dem Erstkontakt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977639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397763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 i="0">
                <a:solidFill>
                  <a:srgbClr val="171C1B"/>
                </a:solidFill>
              </a:rPr>
              <a:t>Gebündelte Triage, klare Kriterien, keine Umwege zwischen den Kliniken.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21031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InselLink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2468879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834639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UVCM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1840" y="21396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50" b="1">
                <a:solidFill>
                  <a:srgbClr val="171C1B"/>
                </a:solidFill>
              </a:rPr>
              <a:t>InselLink</a:t>
            </a:r>
          </a:p>
          <a:p>
            <a:pPr algn="l"/>
            <a:r>
              <a:rPr sz="750" b="0">
                <a:solidFill>
                  <a:srgbClr val="006B4F"/>
                </a:solidFill>
              </a:rPr>
              <a:t>bleibt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1840" y="2724912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50" b="1">
                <a:solidFill>
                  <a:srgbClr val="171C1B"/>
                </a:solidFill>
              </a:rPr>
              <a:t>Zentrale Triage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definierte Stelle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212080" y="2331720"/>
            <a:ext cx="457200" cy="292608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212080" y="2624328"/>
            <a:ext cx="457200" cy="292608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Zielbild: ein gemeinsamer Auftritt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29844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09670"/>
                </a:solidFill>
              </a:rPr>
              <a:t>Gebündelte Triage: richtig zugewiesene und zufriedenere Patient:innen, mehr Zuweisungen für beide Kliniken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57400" y="1481328"/>
            <a:ext cx="0" cy="109728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86600" y="1481328"/>
            <a:ext cx="0" cy="109728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48640" y="1600200"/>
            <a:ext cx="3017520" cy="960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1600200"/>
            <a:ext cx="30175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171907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1929384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Ernährung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71C1B"/>
                </a:solidFill>
              </a:rPr>
              <a:t>Medikamentöse Therapie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71C1B"/>
                </a:solidFill>
              </a:rPr>
              <a:t>Postbariatrische Nachsorge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1600200"/>
            <a:ext cx="3017520" cy="960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77840" y="1600200"/>
            <a:ext cx="30175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42432" y="171907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9670"/>
                </a:solidFill>
              </a:rPr>
              <a:t>UVCM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2" y="19293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Bariatrische Chirurgie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2432" y="216712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77078"/>
                </a:solidFill>
              </a:rPr>
              <a:t>Operative und endoskopische Verfahren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1687068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71C1B"/>
                </a:solidFill>
              </a:rPr>
              <a:t>Indikation zur Bariatrie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39312" y="1860804"/>
            <a:ext cx="1865376" cy="0"/>
          </a:xfrm>
          <a:prstGeom prst="line">
            <a:avLst/>
          </a:prstGeom>
          <a:ln w="254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566160" y="201625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71C1B"/>
                </a:solidFill>
              </a:rPr>
              <a:t>Wechselwirkung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3639312" y="2318004"/>
            <a:ext cx="1865376" cy="0"/>
          </a:xfrm>
          <a:prstGeom prst="line">
            <a:avLst/>
          </a:prstGeom>
          <a:ln w="254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566160" y="2363724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71C1B"/>
                </a:solidFill>
              </a:rPr>
              <a:t>Postbariatrische Nachsorge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2633472"/>
            <a:ext cx="80467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274320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ZERTIFIZIERUNGEN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27432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QUALITÄTSSICHERUNG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3" y="3035808"/>
            <a:ext cx="1353312" cy="1280159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7784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424" y="3035808"/>
            <a:ext cx="1353312" cy="1280159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03703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95344" y="3035808"/>
            <a:ext cx="1353312" cy="1280159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849624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541264" y="3035808"/>
            <a:ext cx="1353312" cy="1280159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95544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87183" y="3035808"/>
            <a:ext cx="1353312" cy="1280159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141464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1243584" cy="254369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40080" y="352958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71C1B"/>
                </a:solidFill>
              </a:rPr>
              <a:t>EASO COMs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9536" y="3877056"/>
            <a:ext cx="84124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677078"/>
                </a:solidFill>
              </a:rPr>
              <a:t>bisher UDEM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0" y="3145536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1C1B"/>
                </a:solidFill>
              </a:rPr>
              <a:t>Swiss Medical Obesity Center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505456" y="3877056"/>
            <a:ext cx="84124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677078"/>
                </a:solidFill>
              </a:rPr>
              <a:t>bisher UDEM</a:t>
            </a:r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3090672"/>
            <a:ext cx="384048" cy="38404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3931920" y="349300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71C1B"/>
                </a:solidFill>
              </a:rPr>
              <a:t>Bariatrisches Referenzzentrum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1376" y="3877056"/>
            <a:ext cx="84124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677078"/>
                </a:solidFill>
              </a:rPr>
              <a:t>bisher UVCM</a:t>
            </a:r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3090672"/>
            <a:ext cx="694944" cy="49496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577840" y="365760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71C1B"/>
                </a:solidFill>
              </a:rPr>
              <a:t>Swiss Obesity Study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97296" y="3877056"/>
            <a:ext cx="84124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677078"/>
                </a:solidFill>
              </a:rPr>
              <a:t>bisher UDEM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3759" y="31455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171C1B"/>
                </a:solidFill>
              </a:rPr>
              <a:t>Adipositasboard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23759" y="343814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Interdisziplinäre Fallbesprechung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43216" y="3877056"/>
            <a:ext cx="841248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UDEM &amp; UVCM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394960" y="2916936"/>
            <a:ext cx="0" cy="1362456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548640" y="4315968"/>
            <a:ext cx="8046720" cy="329184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Ziel: </a:t>
            </a:r>
            <a:r>
              <a:rPr sz="1100" b="0">
                <a:solidFill>
                  <a:srgbClr val="FFFFFF"/>
                </a:solidFill>
              </a:rPr>
              <a:t>Alle Zertifizierungen und die Qualitätssicherung gelten für UDEM &amp; UVCM gemeinsam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>
                <a:solidFill>
                  <a:srgbClr val="171C1B"/>
                </a:solidFill>
              </a:rPr>
              <a:t>Heute: </a:t>
            </a:r>
            <a:r>
              <a:rPr lang="de-CH" sz="2150" b="1" i="0" dirty="0">
                <a:solidFill>
                  <a:srgbClr val="171C1B"/>
                </a:solidFill>
              </a:rPr>
              <a:t>Zwei Webauftritte für Adipositas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stoffwechsel-gewichtsregulation.insel.ch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adipositasbern.ch</a:t>
            </a:r>
          </a:p>
        </p:txBody>
      </p:sp>
      <p:pic>
        <p:nvPicPr>
          <p:cNvPr id="22" name="Picture 21" descr="z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pic>
        <p:nvPicPr>
          <p:cNvPr id="23" name="Picture 22" descr="a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548640" y="3255264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Insel-Standard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255264"/>
            <a:ext cx="2331720" cy="23774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 dirty="0">
                <a:solidFill>
                  <a:srgbClr val="9B6051"/>
                </a:solidFill>
              </a:rPr>
              <a:t>Extern </a:t>
            </a:r>
            <a:r>
              <a:rPr sz="850" b="1" dirty="0" err="1">
                <a:solidFill>
                  <a:srgbClr val="9B6051"/>
                </a:solidFill>
              </a:rPr>
              <a:t>gehostet</a:t>
            </a:r>
            <a:r>
              <a:rPr sz="850" b="1" dirty="0">
                <a:solidFill>
                  <a:srgbClr val="9B6051"/>
                </a:solidFill>
              </a:rPr>
              <a:t> · </a:t>
            </a:r>
            <a:r>
              <a:rPr sz="850" b="1" dirty="0" err="1">
                <a:solidFill>
                  <a:srgbClr val="9B6051"/>
                </a:solidFill>
              </a:rPr>
              <a:t>nicht</a:t>
            </a:r>
            <a:r>
              <a:rPr sz="850" b="1" dirty="0">
                <a:solidFill>
                  <a:srgbClr val="9B6051"/>
                </a:solidFill>
              </a:rPr>
              <a:t> Insel-Standard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1481328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DOPPELTE INHALTE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1673352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Websites, zweimal Pflegeaufwand.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139696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UNKLARE ZUSTÄNDIGKEIT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331720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Zuweisende und Patient:innen wissen nicht, wo sie sich melden sollen.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798064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UNEINHEITLICHER AUFTRITT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2990088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Designs, zwei Hosting-Lösungen.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456432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GERINGERE SICHTBARKEIT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648456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Beide Seiten konkurrieren um dieselben Suchbegriffe.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24528"/>
            <a:ext cx="8046720" cy="384048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224528"/>
            <a:ext cx="36576" cy="3840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224528"/>
            <a:ext cx="7772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71C1B"/>
                </a:solidFill>
              </a:rPr>
              <a:t>Für Zuweisende und Patient:innen ist heute nicht erkennbar, dass es ein gemeinsames Angebot 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Umsetzung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Nächste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sz="2150" b="1" i="0" dirty="0" err="1">
                <a:solidFill>
                  <a:srgbClr val="171C1B"/>
                </a:solidFill>
              </a:rPr>
              <a:t>Schritte</a:t>
            </a:r>
            <a:r>
              <a:rPr sz="2150" b="1" i="0" dirty="0">
                <a:solidFill>
                  <a:srgbClr val="171C1B"/>
                </a:solidFill>
              </a:rPr>
              <a:t> und </a:t>
            </a:r>
            <a:r>
              <a:rPr sz="2150" b="1" i="0" dirty="0" err="1">
                <a:solidFill>
                  <a:srgbClr val="171C1B"/>
                </a:solidFill>
              </a:rPr>
              <a:t>Zeitplan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Entwurf zur gemeinsamen Festlegung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1645920"/>
            <a:ext cx="1481328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176272"/>
            <a:ext cx="1207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Zielstruktur definieren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724912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Stossrichtung UDEM / UVCM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3346704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heute, 27.10.2026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29968" y="253288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12848" y="1645920"/>
            <a:ext cx="1481328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350008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50008" y="2176272"/>
            <a:ext cx="1207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Projektstart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50008" y="2724912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Projektteam zu definieren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350008" y="3346704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Q4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4176" y="253288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77056" y="1645920"/>
            <a:ext cx="305409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14216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9976" y="1828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Parallel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833872" y="182880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ab Q4 2026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14216" y="2212848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14216" y="2212848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33088" y="2212848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Zuweisungen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14216" y="2514600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14216" y="2514600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33088" y="2514600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Triage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014216" y="2816352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014216" y="2816352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33088" y="2816352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Prozesse und Subprozesse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14216" y="3118104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14216" y="3118104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33088" y="3118104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Website anpassen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14216" y="3419856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014216" y="3419856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33088" y="3419856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Adipositasboard optimieren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1152" y="253288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14032" y="1645920"/>
            <a:ext cx="1481328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251192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51192" y="2176272"/>
            <a:ext cx="1207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Einführen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51192" y="2724912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Go-live und Information der Zuweisenden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251192" y="3346704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Ende Q1 2027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ED95D39-7202-4A89-8FC1-3B34C5D89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Inselspital, Universitätsklinik für Diabetologie, Endokrinologie, Ernährungsmedizin und Metabolismus, Freiburgstrasse 15, 3010 Bern</a:t>
            </a:r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012F4C9-0979-4D97-9A9C-3D67758FB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Zur Diskussion</a:t>
            </a:r>
            <a:br>
              <a:rPr lang="de-CH" dirty="0"/>
            </a:br>
            <a:br>
              <a:rPr lang="de-CH" sz="2800" b="0" dirty="0">
                <a:solidFill>
                  <a:srgbClr val="171C1B"/>
                </a:solidFill>
                <a:latin typeface="Arial"/>
              </a:rPr>
            </a:br>
            <a:endParaRPr lang="de-CH" dirty="0"/>
          </a:p>
        </p:txBody>
      </p:sp>
      <p:sp>
        <p:nvSpPr>
          <p:cNvPr id="4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204105731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Eine gemeinsame Plattform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Webauftritt, Briefkopf, Patientenpfad und Adipositasboard – für UDEM und UVCM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pic>
        <p:nvPicPr>
          <p:cNvPr id="21" name="Picture 20" descr="mock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4892040" cy="2597229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5623560" y="1627632"/>
            <a:ext cx="2971800" cy="768096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23560" y="1627632"/>
            <a:ext cx="36576" cy="768096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0" y="1709928"/>
            <a:ext cx="2697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GEMEINSAMER WEBAUFTRITT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1901952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71C1B"/>
                </a:solidFill>
              </a:rPr>
              <a:t>Website UDEM &amp; UVCM, Adresse offen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121408"/>
            <a:ext cx="196596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Hosting nach Insel-Standard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2459736"/>
            <a:ext cx="2971800" cy="7315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23560" y="2459736"/>
            <a:ext cx="36576" cy="7315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0" y="2542032"/>
            <a:ext cx="2697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EINHEITLICHER BRIEFKOPF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720" y="2734056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0216" y="2766060"/>
            <a:ext cx="786384" cy="155448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rcRect r="53214"/>
          <a:stretch>
            <a:fillRect/>
          </a:stretch>
        </p:blipFill>
        <p:spPr>
          <a:xfrm>
            <a:off x="5824728" y="2779776"/>
            <a:ext cx="357257" cy="1554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300216" y="2779776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>
                <a:solidFill>
                  <a:srgbClr val="009670"/>
                </a:solidFill>
              </a:rPr>
              <a:t>UDEM &amp; UVCM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824728" y="2971800"/>
            <a:ext cx="128016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824728" y="3035808"/>
            <a:ext cx="987552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287768" y="27340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Gleicher Kopf für Berichte und Briefe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3255264"/>
            <a:ext cx="2971800" cy="768096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23560" y="3255264"/>
            <a:ext cx="36576" cy="768096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3337560"/>
            <a:ext cx="2697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EINHEITLICHER PATIENTENPFAD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538728"/>
            <a:ext cx="58521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00" b="1">
                <a:solidFill>
                  <a:srgbClr val="171C1B"/>
                </a:solidFill>
              </a:rPr>
              <a:t>Zuweisung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355080" y="3639312"/>
            <a:ext cx="54864" cy="0"/>
          </a:xfrm>
          <a:prstGeom prst="line">
            <a:avLst/>
          </a:prstGeom>
          <a:ln w="127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419088" y="3538728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00" b="1">
                <a:solidFill>
                  <a:srgbClr val="171C1B"/>
                </a:solidFill>
              </a:rPr>
              <a:t>Triage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30568" y="3639312"/>
            <a:ext cx="54864" cy="0"/>
          </a:xfrm>
          <a:prstGeom prst="line">
            <a:avLst/>
          </a:prstGeom>
          <a:ln w="127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894576" y="3538728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00" b="1">
                <a:solidFill>
                  <a:srgbClr val="171C1B"/>
                </a:solidFill>
              </a:rPr>
              <a:t>Assessments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598664" y="3639312"/>
            <a:ext cx="54864" cy="0"/>
          </a:xfrm>
          <a:prstGeom prst="line">
            <a:avLst/>
          </a:prstGeom>
          <a:ln w="127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7662672" y="3538728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00" b="1">
                <a:solidFill>
                  <a:srgbClr val="171C1B"/>
                </a:solidFill>
              </a:rPr>
              <a:t>Sprechstunde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3803904"/>
            <a:ext cx="2697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77078"/>
                </a:solidFill>
              </a:rPr>
              <a:t>Sprechstunde an der UDEM oder an der UVCM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23560" y="4087368"/>
            <a:ext cx="2971800" cy="512064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23560" y="4087368"/>
            <a:ext cx="36576" cy="512064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0" y="4169663"/>
            <a:ext cx="2697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ADIPOSITASBOARD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0" y="4361688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71C1B"/>
                </a:solidFill>
              </a:rPr>
              <a:t>Interdisziplinäre Fallbesprechung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Inhalt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Inhalt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538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149961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Sprechstunden und Qualitätssicherung an der UDEM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1847088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1911095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19568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Zuweisung: heute und Vorschlag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23042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23682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24140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Vorschlag: gemeinsamer Auftritt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27614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28254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28712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Vorschlag: gemeinsame Plattform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32186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32826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3284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Adipositasboard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36758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48640" y="37398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37856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Mögliche nächste Schritte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41330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41970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24281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Diskussion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 Titel Insel Spital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4C0F31AB-11C0-4408-956C-E9B98EDB0FAB}"/>
    </a:ext>
  </a:extLst>
</a:theme>
</file>

<file path=ppt/theme/theme2.xml><?xml version="1.0" encoding="utf-8"?>
<a:theme xmlns:a="http://schemas.openxmlformats.org/drawingml/2006/main" name="1_Master Titel Insel Spital mit UCI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BF4D9168-52B6-4F7D-9816-FC1A762958C4}"/>
    </a:ext>
  </a:extLst>
</a:theme>
</file>

<file path=ppt/theme/theme3.xml><?xml version="1.0" encoding="utf-8"?>
<a:theme xmlns:a="http://schemas.openxmlformats.org/drawingml/2006/main" name="Master Inhalt Insel Spital 18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904E66F1-9887-40AC-A850-B8238F8127FE}"/>
    </a:ext>
  </a:extLst>
</a:theme>
</file>

<file path=ppt/theme/theme4.xml><?xml version="1.0" encoding="utf-8"?>
<a:theme xmlns:a="http://schemas.openxmlformats.org/drawingml/2006/main" name="Master Inhalt Insel Spital 14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FC3BB2A8-8B94-4B57-8A93-ACBBD1F9B90F}"/>
    </a:ext>
  </a:extLst>
</a:theme>
</file>

<file path=ppt/theme/theme5.xml><?xml version="1.0" encoding="utf-8"?>
<a:theme xmlns:a="http://schemas.openxmlformats.org/drawingml/2006/main" name="Master Inhalt Insel Spital 12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A9936B5D-6CF3-4AE6-91B6-8C4AD06F476B}"/>
    </a:ext>
  </a:extLst>
</a:theme>
</file>

<file path=ppt/theme/theme6.xml><?xml version="1.0" encoding="utf-8"?>
<a:theme xmlns:a="http://schemas.openxmlformats.org/drawingml/2006/main" name="Master Inhalt Insel Spital 10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005E663E-20D0-4D92-A153-AF68010EB01F}"/>
    </a:ext>
  </a:extLst>
</a:theme>
</file>

<file path=ppt/theme/theme7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C61BAC2D613B146B62EA0C89E8ABE0B" ma:contentTypeVersion="1" ma:contentTypeDescription="Ein neues Dokument erstellen." ma:contentTypeScope="" ma:versionID="b96f590150f6c51695eb02ee05cd3cc8">
  <xsd:schema xmlns:xsd="http://www.w3.org/2001/XMLSchema" xmlns:xs="http://www.w3.org/2001/XMLSchema" xmlns:p="http://schemas.microsoft.com/office/2006/metadata/properties" xmlns:ns2="70db88b2-e820-42ba-aca9-d1475689a070" targetNamespace="http://schemas.microsoft.com/office/2006/metadata/properties" ma:root="true" ma:fieldsID="dafaf2c359ac23becbe82584ea0d56f4" ns2:_="">
    <xsd:import namespace="70db88b2-e820-42ba-aca9-d1475689a070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db88b2-e820-42ba-aca9-d1475689a0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12E4E3B-3738-4EE9-BE0A-FF791C330B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db88b2-e820-42ba-aca9-d1475689a0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DF66D4-6F61-45C7-AC76-432042C7F152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70db88b2-e820-42ba-aca9-d1475689a070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45AA231-31C2-416F-8FEB-CA616B861A3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Nachfrage &amp; Angebot UDEM Sprechstunden_Juni 2025</Template>
  <TotalTime>0</TotalTime>
  <Words>820</Words>
  <Application>Microsoft Office PowerPoint</Application>
  <PresentationFormat>Bildschirmpräsentation (16:9)</PresentationFormat>
  <Paragraphs>235</Paragraphs>
  <Slides>11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11</vt:i4>
      </vt:variant>
    </vt:vector>
  </HeadingPairs>
  <TitlesOfParts>
    <vt:vector size="19" baseType="lpstr">
      <vt:lpstr>Arial</vt:lpstr>
      <vt:lpstr>Calibri</vt:lpstr>
      <vt:lpstr>Master Titel Insel Spital</vt:lpstr>
      <vt:lpstr>1_Master Titel Insel Spital mit UCI</vt:lpstr>
      <vt:lpstr>Master Inhalt Insel Spital 18pt</vt:lpstr>
      <vt:lpstr>Master Inhalt Insel Spital 14pt</vt:lpstr>
      <vt:lpstr>Master Inhalt Insel Spital 12pt</vt:lpstr>
      <vt:lpstr>Master Inhalt Insel Spital 10pt</vt:lpstr>
      <vt:lpstr>Zusammenarbeit Adipositasbereich UDEM &amp; UVCM Gemeinsamer Auftritt und klare Zuweisungswege 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Zur Diskussion  </vt:lpstr>
    </vt:vector>
  </TitlesOfParts>
  <Company>Insel Gruppe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Nachfrage vs. Angebot UDEM Sprechstunden Nachfrage = verordnete aber noch nicht geplante Sprechstunden Angebot = freie noch nicht gebuchte Sprechstundenzeitfenster Stand der Zahlen: 29.06.2025</dc:title>
  <dc:creator>Magariños Lorenzo, David</dc:creator>
  <cp:lastModifiedBy>Burgener, Vincent</cp:lastModifiedBy>
  <cp:revision>98</cp:revision>
  <dcterms:created xsi:type="dcterms:W3CDTF">2025-07-28T07:27:53Z</dcterms:created>
  <dcterms:modified xsi:type="dcterms:W3CDTF">2026-10-20T14:46:01Z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0x010100AC61BAC2D613B146B62EA0C89E8ABE0B</vt:lpwstr>
  </property>
</Properties>
</file>